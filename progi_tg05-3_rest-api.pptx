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61" r:id="rId6"/>
    <p:sldId id="260" r:id="rId7"/>
    <p:sldId id="259" r:id="rId8"/>
    <p:sldId id="262" r:id="rId9"/>
    <p:sldId id="258" r:id="rId10"/>
    <p:sldId id="272" r:id="rId11"/>
    <p:sldId id="273" r:id="rId12"/>
    <p:sldId id="263" r:id="rId13"/>
    <p:sldId id="264" r:id="rId14"/>
    <p:sldId id="275" r:id="rId15"/>
    <p:sldId id="268" r:id="rId16"/>
    <p:sldId id="265" r:id="rId17"/>
    <p:sldId id="267" r:id="rId18"/>
    <p:sldId id="266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1445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73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065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16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67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3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2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3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187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4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43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13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utoservis-frontend.onrender.co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vanosoric/PROGI-grupa-5.3" TargetMode="External"/><Relationship Id="rId2" Type="http://schemas.openxmlformats.org/officeDocument/2006/relationships/hyperlink" Target="https://autoservis-frontend.onrender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4199" y="-728103"/>
            <a:ext cx="10111047" cy="4041648"/>
          </a:xfrm>
        </p:spPr>
        <p:txBody>
          <a:bodyPr/>
          <a:lstStyle/>
          <a:p>
            <a:pPr algn="ctr"/>
            <a:r>
              <a:rPr lang="en-US" sz="6000" dirty="0">
                <a:latin typeface="Aptos"/>
                <a:ea typeface="+mj-lt"/>
                <a:cs typeface="+mj-lt"/>
              </a:rPr>
              <a:t>Auto </a:t>
            </a:r>
            <a:r>
              <a:rPr lang="en-US" sz="6000" err="1">
                <a:latin typeface="Aptos"/>
                <a:ea typeface="+mj-lt"/>
                <a:cs typeface="+mj-lt"/>
              </a:rPr>
              <a:t>servis</a:t>
            </a:r>
            <a:r>
              <a:rPr lang="en-US" sz="6000" dirty="0">
                <a:latin typeface="Aptos"/>
                <a:ea typeface="+mj-lt"/>
                <a:cs typeface="+mj-lt"/>
              </a:rPr>
              <a:t> - </a:t>
            </a:r>
            <a:r>
              <a:rPr lang="en-US" sz="6000" err="1">
                <a:latin typeface="Aptos"/>
                <a:ea typeface="+mj-lt"/>
                <a:cs typeface="+mj-lt"/>
              </a:rPr>
              <a:t>Sustav</a:t>
            </a:r>
            <a:r>
              <a:rPr lang="en-US" sz="6000" dirty="0">
                <a:latin typeface="Aptos"/>
                <a:ea typeface="+mj-lt"/>
                <a:cs typeface="+mj-lt"/>
              </a:rPr>
              <a:t> za </a:t>
            </a:r>
            <a:r>
              <a:rPr lang="en-US" sz="6000" err="1">
                <a:latin typeface="Aptos"/>
                <a:ea typeface="+mj-lt"/>
                <a:cs typeface="+mj-lt"/>
              </a:rPr>
              <a:t>upravljanje</a:t>
            </a:r>
            <a:r>
              <a:rPr lang="en-US" sz="6000" dirty="0">
                <a:latin typeface="Aptos"/>
                <a:ea typeface="+mj-lt"/>
                <a:cs typeface="+mj-lt"/>
              </a:rPr>
              <a:t> </a:t>
            </a:r>
            <a:r>
              <a:rPr lang="en-US" sz="6000" err="1">
                <a:latin typeface="Aptos"/>
                <a:ea typeface="+mj-lt"/>
                <a:cs typeface="+mj-lt"/>
              </a:rPr>
              <a:t>autoservisom</a:t>
            </a:r>
            <a:endParaRPr lang="en-US" sz="6000">
              <a:latin typeface="Aptos"/>
              <a:ea typeface="+mj-lt"/>
              <a:cs typeface="+mj-lt"/>
            </a:endParaRPr>
          </a:p>
        </p:txBody>
      </p:sp>
      <p:pic>
        <p:nvPicPr>
          <p:cNvPr id="4" name="Picture 3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EC25D29C-E732-27E8-6D2D-8C95987E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73" y="879"/>
            <a:ext cx="1977022" cy="1977022"/>
          </a:xfrm>
          <a:prstGeom prst="rect">
            <a:avLst/>
          </a:prstGeom>
          <a:effectLst>
            <a:outerShdw blurRad="165100" dist="38100" dir="2700000">
              <a:srgbClr val="000000">
                <a:alpha val="64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B7E41-4E67-2427-0542-3127C68AA6A3}"/>
              </a:ext>
            </a:extLst>
          </p:cNvPr>
          <p:cNvSpPr txBox="1"/>
          <p:nvPr/>
        </p:nvSpPr>
        <p:spPr>
          <a:xfrm>
            <a:off x="887328" y="5298646"/>
            <a:ext cx="432261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Aptos"/>
                <a:ea typeface="+mn-lt"/>
                <a:cs typeface="+mn-lt"/>
              </a:rPr>
              <a:t>Grupa TG05.3 (Rest-API) </a:t>
            </a:r>
            <a:endParaRPr lang="en-US" sz="2400">
              <a:latin typeface="Aptos"/>
            </a:endParaRPr>
          </a:p>
          <a:p>
            <a:endParaRPr lang="en-US" sz="2400" dirty="0">
              <a:latin typeface="Aptos"/>
            </a:endParaRPr>
          </a:p>
          <a:p>
            <a:r>
              <a:rPr lang="en-US" sz="2400" dirty="0">
                <a:latin typeface="Aptos"/>
                <a:ea typeface="+mn-lt"/>
                <a:cs typeface="+mn-lt"/>
              </a:rPr>
              <a:t> </a:t>
            </a:r>
            <a:r>
              <a:rPr lang="en-US" sz="2400" err="1">
                <a:latin typeface="Aptos"/>
                <a:ea typeface="+mn-lt"/>
                <a:cs typeface="+mn-lt"/>
              </a:rPr>
              <a:t>Nastavnik</a:t>
            </a:r>
            <a:r>
              <a:rPr lang="en-US" sz="2400" dirty="0">
                <a:latin typeface="Aptos"/>
                <a:ea typeface="+mn-lt"/>
                <a:cs typeface="+mn-lt"/>
              </a:rPr>
              <a:t>: Vlado </a:t>
            </a:r>
            <a:r>
              <a:rPr lang="en-US" sz="2400" err="1">
                <a:latin typeface="Aptos"/>
                <a:ea typeface="+mn-lt"/>
                <a:cs typeface="+mn-lt"/>
              </a:rPr>
              <a:t>Sruk</a:t>
            </a:r>
            <a:endParaRPr lang="en-US" sz="2400"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1808D5-D2E3-2672-4859-7B5F8120C66E}"/>
              </a:ext>
            </a:extLst>
          </p:cNvPr>
          <p:cNvSpPr txBox="1"/>
          <p:nvPr/>
        </p:nvSpPr>
        <p:spPr>
          <a:xfrm>
            <a:off x="9022971" y="4189645"/>
            <a:ext cx="27432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2400" dirty="0">
                <a:latin typeface="Aptos"/>
              </a:rPr>
              <a:t>Ivan Petrović</a:t>
            </a:r>
          </a:p>
          <a:p>
            <a:pPr algn="r"/>
            <a:r>
              <a:rPr lang="en-US" sz="2400" dirty="0">
                <a:latin typeface="Aptos"/>
              </a:rPr>
              <a:t>Ivano Sorić</a:t>
            </a:r>
          </a:p>
          <a:p>
            <a:pPr algn="r"/>
            <a:r>
              <a:rPr lang="en-US" sz="2400" dirty="0">
                <a:latin typeface="Aptos"/>
              </a:rPr>
              <a:t>Katarina </a:t>
            </a:r>
            <a:r>
              <a:rPr lang="en-US" sz="2400" dirty="0" err="1">
                <a:latin typeface="Aptos"/>
              </a:rPr>
              <a:t>Bencun</a:t>
            </a:r>
            <a:endParaRPr lang="en-US" sz="2400" dirty="0">
              <a:latin typeface="Aptos"/>
            </a:endParaRPr>
          </a:p>
          <a:p>
            <a:pPr algn="r"/>
            <a:r>
              <a:rPr lang="en-US" sz="2400" dirty="0">
                <a:latin typeface="Aptos"/>
              </a:rPr>
              <a:t>Adrijan </a:t>
            </a:r>
            <a:r>
              <a:rPr lang="en-US" sz="2400" dirty="0" err="1">
                <a:latin typeface="Aptos"/>
              </a:rPr>
              <a:t>Lazanja</a:t>
            </a:r>
            <a:endParaRPr lang="en-US" sz="2400" dirty="0">
              <a:latin typeface="Aptos"/>
            </a:endParaRPr>
          </a:p>
          <a:p>
            <a:pPr algn="r"/>
            <a:r>
              <a:rPr lang="en-US" sz="2400" dirty="0">
                <a:latin typeface="Aptos"/>
              </a:rPr>
              <a:t>Domagoj </a:t>
            </a:r>
            <a:r>
              <a:rPr lang="en-US" sz="2400" err="1">
                <a:latin typeface="Aptos"/>
              </a:rPr>
              <a:t>Vitković</a:t>
            </a:r>
            <a:r>
              <a:rPr lang="en-US" sz="2400" dirty="0">
                <a:latin typeface="Aptos"/>
              </a:rPr>
              <a:t> </a:t>
            </a:r>
          </a:p>
          <a:p>
            <a:pPr algn="r"/>
            <a:r>
              <a:rPr lang="en-US" sz="2400" dirty="0">
                <a:latin typeface="Aptos"/>
              </a:rPr>
              <a:t>Mia Bagarić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CDCF98-38E6-8120-BAAB-67BDACAC1F12}"/>
              </a:ext>
            </a:extLst>
          </p:cNvPr>
          <p:cNvSpPr txBox="1"/>
          <p:nvPr/>
        </p:nvSpPr>
        <p:spPr>
          <a:xfrm>
            <a:off x="3692866" y="3587697"/>
            <a:ext cx="52647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err="1">
                <a:solidFill>
                  <a:srgbClr val="FFFFFF"/>
                </a:solidFill>
                <a:latin typeface="Aptos"/>
                <a:ea typeface="Century Schoolbook"/>
                <a:cs typeface="Century Schoolbook"/>
              </a:rPr>
              <a:t>Programsko</a:t>
            </a:r>
            <a:r>
              <a:rPr lang="en-US" sz="2400" b="0" i="0" u="none" strike="noStrike" baseline="0" dirty="0">
                <a:solidFill>
                  <a:srgbClr val="FFFFFF"/>
                </a:solidFill>
                <a:latin typeface="Aptos"/>
                <a:ea typeface="Century Schoolbook"/>
                <a:cs typeface="Century Schoolbook"/>
              </a:rPr>
              <a:t> </a:t>
            </a:r>
            <a:r>
              <a:rPr lang="en-US" sz="2400" b="0" i="0" u="none" strike="noStrike" baseline="0" err="1">
                <a:solidFill>
                  <a:srgbClr val="FFFFFF"/>
                </a:solidFill>
                <a:latin typeface="Aptos"/>
                <a:ea typeface="Century Schoolbook"/>
                <a:cs typeface="Century Schoolbook"/>
              </a:rPr>
              <a:t>inženjerstvo</a:t>
            </a:r>
            <a:r>
              <a:rPr lang="en-US" sz="2400" b="0" i="0" u="none" strike="noStrike" baseline="0" dirty="0">
                <a:solidFill>
                  <a:srgbClr val="FFFFFF"/>
                </a:solidFill>
                <a:latin typeface="Aptos"/>
                <a:ea typeface="Century Schoolbook"/>
                <a:cs typeface="Century Schoolbook"/>
              </a:rPr>
              <a:t> 2025/2026</a:t>
            </a:r>
            <a:endParaRPr lang="en-US" sz="2400">
              <a:latin typeface="Apto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88DED1-994F-8CA2-9284-621D116E0FEA}"/>
              </a:ext>
            </a:extLst>
          </p:cNvPr>
          <p:cNvCxnSpPr/>
          <p:nvPr/>
        </p:nvCxnSpPr>
        <p:spPr>
          <a:xfrm>
            <a:off x="2866571" y="3435047"/>
            <a:ext cx="6918476" cy="12095"/>
          </a:xfrm>
          <a:prstGeom prst="straightConnector1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13" descr="FER predstavio novi vizualni identitet - Novosti - Fakultet elektrotehnike  i računarstva">
            <a:extLst>
              <a:ext uri="{FF2B5EF4-FFF2-40B4-BE49-F238E27FC236}">
                <a16:creationId xmlns:a16="http://schemas.microsoft.com/office/drawing/2014/main" id="{FF69B402-D327-FE52-6769-ACEF09398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83130" y="-228745"/>
            <a:ext cx="1607416" cy="15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523DF6-0995-BAC4-0A25-E585E9D2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Zašto</a:t>
            </a:r>
            <a:r>
              <a:rPr lang="en-US" dirty="0">
                <a:latin typeface="Aptos"/>
                <a:ea typeface="+mj-lt"/>
                <a:cs typeface="+mj-lt"/>
              </a:rPr>
              <a:t> Auto </a:t>
            </a:r>
            <a:r>
              <a:rPr lang="en-US" dirty="0" err="1">
                <a:latin typeface="Aptos"/>
                <a:ea typeface="+mj-lt"/>
                <a:cs typeface="+mj-lt"/>
              </a:rPr>
              <a:t>servis</a:t>
            </a:r>
            <a:r>
              <a:rPr lang="en-US" dirty="0">
                <a:latin typeface="Aptos"/>
                <a:ea typeface="+mj-lt"/>
                <a:cs typeface="+mj-lt"/>
              </a:rPr>
              <a:t>?</a:t>
            </a:r>
            <a:endParaRPr lang="en-US">
              <a:latin typeface="Apto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8AE5233-F1D7-B5AF-7F2C-576087DD3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5225415" cy="49220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Aptos"/>
                <a:ea typeface="+mn-lt"/>
                <a:cs typeface="+mn-lt"/>
              </a:rPr>
              <a:t>Trenutno</a:t>
            </a:r>
            <a:r>
              <a:rPr lang="en-US" sz="2400" b="1" dirty="0">
                <a:latin typeface="Aptos"/>
                <a:ea typeface="+mn-lt"/>
                <a:cs typeface="+mn-lt"/>
              </a:rPr>
              <a:t> </a:t>
            </a:r>
            <a:r>
              <a:rPr lang="en-US" sz="2400" b="1" dirty="0" err="1">
                <a:latin typeface="Aptos"/>
                <a:ea typeface="+mn-lt"/>
                <a:cs typeface="+mn-lt"/>
              </a:rPr>
              <a:t>stanje</a:t>
            </a:r>
            <a:r>
              <a:rPr lang="en-US" sz="2400" b="1" dirty="0">
                <a:latin typeface="Aptos"/>
                <a:ea typeface="+mn-lt"/>
                <a:cs typeface="+mn-lt"/>
              </a:rPr>
              <a:t>:</a:t>
            </a:r>
            <a:endParaRPr lang="en-US" sz="2400" dirty="0">
              <a:latin typeface="Aptos"/>
            </a:endParaRPr>
          </a:p>
          <a:p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ručna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evidencija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vozila</a:t>
            </a:r>
            <a:endParaRPr lang="en-US" sz="220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telefonski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dogovori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s </a:t>
            </a:r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korisnicima</a:t>
            </a:r>
            <a:endParaRPr lang="en-US" dirty="0" err="1">
              <a:latin typeface="Aptos"/>
            </a:endParaRPr>
          </a:p>
          <a:p>
            <a:r>
              <a:rPr lang="en-US" sz="22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nedostatak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uvida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u </a:t>
            </a:r>
            <a:r>
              <a:rPr lang="en-US" sz="22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zauzetost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servisera</a:t>
            </a:r>
            <a:endParaRPr lang="en-US" err="1">
              <a:latin typeface="Aptos"/>
            </a:endParaRPr>
          </a:p>
          <a:p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este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pogreške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preklapanje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termina</a:t>
            </a:r>
            <a:endParaRPr lang="en-US" dirty="0">
              <a:latin typeface="Aptos"/>
            </a:endParaRPr>
          </a:p>
          <a:p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gubitak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informacija</a:t>
            </a:r>
            <a:endParaRPr lang="en-US" dirty="0" err="1">
              <a:latin typeface="Aptos"/>
            </a:endParaRPr>
          </a:p>
          <a:p>
            <a:pPr marL="0" indent="0">
              <a:buNone/>
            </a:pPr>
            <a:endParaRPr lang="en-US" sz="2200" b="1" dirty="0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b="1" dirty="0" err="1">
                <a:latin typeface="Aptos"/>
                <a:ea typeface="+mn-lt"/>
                <a:cs typeface="+mn-lt"/>
              </a:rPr>
              <a:t>Posljedice</a:t>
            </a:r>
            <a:r>
              <a:rPr lang="en-US" sz="2200" b="1" dirty="0">
                <a:latin typeface="Aptos"/>
                <a:ea typeface="+mn-lt"/>
                <a:cs typeface="+mn-lt"/>
              </a:rPr>
              <a:t>:</a:t>
            </a:r>
            <a:r>
              <a:rPr lang="en-US" sz="2200" dirty="0">
                <a:latin typeface="Aptos"/>
                <a:ea typeface="+mn-lt"/>
                <a:cs typeface="+mn-lt"/>
              </a:rPr>
              <a:t> </a:t>
            </a:r>
            <a:r>
              <a:rPr lang="en-US" sz="2200" dirty="0" err="1">
                <a:latin typeface="Aptos"/>
                <a:ea typeface="+mn-lt"/>
                <a:cs typeface="+mn-lt"/>
              </a:rPr>
              <a:t>Nesporazumi</a:t>
            </a:r>
            <a:r>
              <a:rPr lang="en-US" sz="2200" dirty="0">
                <a:latin typeface="Aptos"/>
                <a:ea typeface="+mn-lt"/>
                <a:cs typeface="+mn-lt"/>
              </a:rPr>
              <a:t>, </a:t>
            </a:r>
            <a:r>
              <a:rPr lang="en-US" sz="2200" dirty="0" err="1">
                <a:latin typeface="Aptos"/>
                <a:ea typeface="+mn-lt"/>
                <a:cs typeface="+mn-lt"/>
              </a:rPr>
              <a:t>kašnjenja</a:t>
            </a:r>
            <a:r>
              <a:rPr lang="en-US" sz="2200" dirty="0">
                <a:latin typeface="Aptos"/>
                <a:ea typeface="+mn-lt"/>
                <a:cs typeface="+mn-lt"/>
              </a:rPr>
              <a:t>, </a:t>
            </a:r>
            <a:r>
              <a:rPr lang="en-US" sz="2200" dirty="0" err="1">
                <a:latin typeface="Aptos"/>
                <a:ea typeface="+mn-lt"/>
                <a:cs typeface="+mn-lt"/>
              </a:rPr>
              <a:t>nezadovoljstvo</a:t>
            </a:r>
            <a:r>
              <a:rPr lang="en-US" sz="2200" dirty="0">
                <a:latin typeface="Aptos"/>
                <a:ea typeface="+mn-lt"/>
                <a:cs typeface="+mn-lt"/>
              </a:rPr>
              <a:t> </a:t>
            </a:r>
            <a:r>
              <a:rPr lang="en-US" sz="2200" dirty="0" err="1">
                <a:latin typeface="Aptos"/>
                <a:ea typeface="+mn-lt"/>
                <a:cs typeface="+mn-lt"/>
              </a:rPr>
              <a:t>korisnika</a:t>
            </a:r>
            <a:endParaRPr lang="en-US">
              <a:latin typeface="Aptos"/>
            </a:endParaRPr>
          </a:p>
          <a:p>
            <a:pPr marL="0" indent="0">
              <a:buNone/>
            </a:pPr>
            <a:endParaRPr lang="en-US" sz="2400" b="1" spc="10" dirty="0">
              <a:solidFill>
                <a:srgbClr val="000000"/>
              </a:solidFill>
              <a:latin typeface="Aptos"/>
            </a:endParaRPr>
          </a:p>
          <a:p>
            <a:endParaRPr lang="en-US" sz="2400" dirty="0"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DD669C-3632-83CF-F9D9-3624A118128E}"/>
              </a:ext>
            </a:extLst>
          </p:cNvPr>
          <p:cNvSpPr txBox="1"/>
          <p:nvPr/>
        </p:nvSpPr>
        <p:spPr>
          <a:xfrm>
            <a:off x="6554278" y="1829637"/>
            <a:ext cx="4772968" cy="29623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spc="10" dirty="0" err="1">
                <a:latin typeface="Aptos"/>
                <a:ea typeface="+mn-lt"/>
                <a:cs typeface="+mn-lt"/>
              </a:rPr>
              <a:t>Rješenje</a:t>
            </a:r>
            <a:r>
              <a:rPr lang="en-US" sz="2400" b="1" spc="10" dirty="0">
                <a:latin typeface="Aptos"/>
                <a:ea typeface="+mn-lt"/>
                <a:cs typeface="+mn-lt"/>
              </a:rPr>
              <a:t>:​</a:t>
            </a:r>
            <a:endParaRPr lang="en-US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digitalizacija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automatizacija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procesa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auto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servisa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​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24/7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dostupnost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online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prijave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​</a:t>
            </a:r>
          </a:p>
          <a:p>
            <a:pPr marL="182880" lvl="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transparentnost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praćenje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u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realnom</a:t>
            </a:r>
            <a:r>
              <a:rPr lang="en-US" sz="22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vremenu</a:t>
            </a:r>
            <a:endParaRPr lang="en-US" sz="2200" spc="1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algn="ctr"/>
            <a:endParaRPr lang="en-US">
              <a:solidFill>
                <a:srgbClr val="000000"/>
              </a:solidFill>
              <a:latin typeface="Aptos"/>
              <a:ea typeface="+mn-lt"/>
              <a:cs typeface="+mn-lt"/>
            </a:endParaRPr>
          </a:p>
        </p:txBody>
      </p:sp>
      <p:pic>
        <p:nvPicPr>
          <p:cNvPr id="17" name="Picture 16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1BA439DE-F60E-72B8-1BC7-7F2077BC2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12751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068A3-34D9-2D73-53D4-21AFBD80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Ciljevi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projekta</a:t>
            </a:r>
            <a:endParaRPr lang="en-US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A476C-5A33-4B3E-351E-489E766EC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953259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ptos"/>
                <a:ea typeface="+mn-lt"/>
                <a:cs typeface="+mn-lt"/>
              </a:rPr>
              <a:t>1.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Automatizacija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procesa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endParaRPr lang="en-US" sz="2000" dirty="0">
              <a:latin typeface="Aptos"/>
            </a:endParaRPr>
          </a:p>
          <a:p>
            <a:r>
              <a:rPr lang="en-US" sz="2000" dirty="0" err="1">
                <a:latin typeface="Aptos"/>
                <a:ea typeface="+mn-lt"/>
                <a:cs typeface="+mn-lt"/>
              </a:rPr>
              <a:t>prijava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vozila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putem</a:t>
            </a:r>
            <a:r>
              <a:rPr lang="en-US" sz="2000" dirty="0">
                <a:latin typeface="Aptos"/>
                <a:ea typeface="+mn-lt"/>
                <a:cs typeface="+mn-lt"/>
              </a:rPr>
              <a:t> web </a:t>
            </a:r>
            <a:r>
              <a:rPr lang="en-US" sz="2000" dirty="0" err="1">
                <a:latin typeface="Aptos"/>
                <a:ea typeface="+mn-lt"/>
                <a:cs typeface="+mn-lt"/>
              </a:rPr>
              <a:t>sučelja</a:t>
            </a:r>
            <a:endParaRPr lang="en-US" sz="2000" dirty="0" err="1">
              <a:latin typeface="Aptos"/>
            </a:endParaRPr>
          </a:p>
          <a:p>
            <a:r>
              <a:rPr lang="en-US" sz="2000" dirty="0" err="1">
                <a:latin typeface="Aptos"/>
                <a:ea typeface="+mn-lt"/>
                <a:cs typeface="+mn-lt"/>
              </a:rPr>
              <a:t>automatsko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obavještavanje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korisnika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r>
              <a:rPr lang="en-US" sz="2000" b="1" dirty="0">
                <a:latin typeface="Aptos"/>
                <a:ea typeface="+mn-lt"/>
                <a:cs typeface="+mn-lt"/>
              </a:rPr>
              <a:t>2.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Poboljšanje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komunikacije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endParaRPr lang="en-US" sz="2000" dirty="0">
              <a:latin typeface="Aptos"/>
            </a:endParaRPr>
          </a:p>
          <a:p>
            <a:r>
              <a:rPr lang="en-US" sz="2000" dirty="0" err="1">
                <a:latin typeface="Aptos"/>
                <a:ea typeface="+mn-lt"/>
                <a:cs typeface="+mn-lt"/>
              </a:rPr>
              <a:t>elektronička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komunikacija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 err="1">
                <a:latin typeface="Aptos"/>
                <a:ea typeface="+mn-lt"/>
                <a:cs typeface="+mn-lt"/>
              </a:rPr>
              <a:t>korisnik</a:t>
            </a:r>
            <a:r>
              <a:rPr lang="en-US" sz="2000" dirty="0">
                <a:latin typeface="Aptos"/>
                <a:ea typeface="+mn-lt"/>
                <a:cs typeface="+mn-lt"/>
              </a:rPr>
              <a:t> ↔ </a:t>
            </a:r>
            <a:r>
              <a:rPr lang="en-US" sz="2000" dirty="0" err="1">
                <a:latin typeface="Aptos"/>
                <a:ea typeface="+mn-lt"/>
                <a:cs typeface="+mn-lt"/>
              </a:rPr>
              <a:t>serviser</a:t>
            </a:r>
            <a:endParaRPr lang="en-US" sz="2000" dirty="0" err="1">
              <a:latin typeface="Aptos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real-time </a:t>
            </a:r>
            <a:r>
              <a:rPr lang="en-US" sz="2000" dirty="0" err="1">
                <a:latin typeface="Aptos"/>
                <a:ea typeface="+mn-lt"/>
                <a:cs typeface="+mn-lt"/>
              </a:rPr>
              <a:t>praćenje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statusa</a:t>
            </a:r>
            <a:endParaRPr lang="en-US" sz="2000" dirty="0" err="1">
              <a:latin typeface="Apto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AFCF9D-2CB7-A16D-F843-2F3F7CC45AEC}"/>
              </a:ext>
            </a:extLst>
          </p:cNvPr>
          <p:cNvSpPr txBox="1">
            <a:spLocks/>
          </p:cNvSpPr>
          <p:nvPr/>
        </p:nvSpPr>
        <p:spPr>
          <a:xfrm>
            <a:off x="5999187" y="1826217"/>
            <a:ext cx="4953259" cy="4351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ptos"/>
                <a:ea typeface="+mn-lt"/>
                <a:cs typeface="+mn-lt"/>
              </a:rPr>
              <a:t>3.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Centralizirana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evidencija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endParaRPr lang="en-US" sz="2000" dirty="0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2000" dirty="0" err="1">
                <a:latin typeface="Aptos"/>
                <a:ea typeface="+mn-lt"/>
                <a:cs typeface="+mn-lt"/>
              </a:rPr>
              <a:t>digitalne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evidencije</a:t>
            </a:r>
            <a:r>
              <a:rPr lang="en-US" sz="2000" dirty="0">
                <a:latin typeface="Aptos"/>
                <a:ea typeface="+mn-lt"/>
                <a:cs typeface="+mn-lt"/>
              </a:rPr>
              <a:t> bez </a:t>
            </a:r>
            <a:r>
              <a:rPr lang="en-US" sz="2000" dirty="0" err="1">
                <a:latin typeface="Aptos"/>
                <a:ea typeface="+mn-lt"/>
                <a:cs typeface="+mn-lt"/>
              </a:rPr>
              <a:t>papirologije</a:t>
            </a:r>
            <a:endParaRPr lang="en-US" sz="2000" dirty="0" err="1">
              <a:latin typeface="Aptos"/>
            </a:endParaRPr>
          </a:p>
          <a:p>
            <a:pPr>
              <a:buFont typeface="Arial"/>
            </a:pPr>
            <a:r>
              <a:rPr lang="en-US" sz="2000" dirty="0" err="1">
                <a:latin typeface="Aptos"/>
                <a:ea typeface="+mn-lt"/>
                <a:cs typeface="+mn-lt"/>
              </a:rPr>
              <a:t>praćenje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podataka</a:t>
            </a:r>
            <a:r>
              <a:rPr lang="en-US" sz="2000" dirty="0">
                <a:latin typeface="Aptos"/>
                <a:ea typeface="+mn-lt"/>
                <a:cs typeface="+mn-lt"/>
              </a:rPr>
              <a:t> o </a:t>
            </a:r>
            <a:r>
              <a:rPr lang="en-US" sz="2000" dirty="0" err="1">
                <a:latin typeface="Aptos"/>
                <a:ea typeface="+mn-lt"/>
                <a:cs typeface="+mn-lt"/>
              </a:rPr>
              <a:t>vozilima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terminima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r>
              <a:rPr lang="en-US" sz="2000" b="1" dirty="0">
                <a:latin typeface="Aptos"/>
                <a:ea typeface="+mn-lt"/>
                <a:cs typeface="+mn-lt"/>
              </a:rPr>
              <a:t>4.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Transparentnost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endParaRPr lang="en-US" sz="2000" dirty="0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2000" err="1">
                <a:latin typeface="Aptos"/>
                <a:ea typeface="+mn-lt"/>
                <a:cs typeface="+mn-lt"/>
              </a:rPr>
              <a:t>uvid</a:t>
            </a:r>
            <a:r>
              <a:rPr lang="en-US" sz="2000" dirty="0">
                <a:latin typeface="Aptos"/>
                <a:ea typeface="+mn-lt"/>
                <a:cs typeface="+mn-lt"/>
              </a:rPr>
              <a:t> u status </a:t>
            </a:r>
            <a:r>
              <a:rPr lang="en-US" sz="2000" err="1">
                <a:latin typeface="Aptos"/>
                <a:ea typeface="+mn-lt"/>
                <a:cs typeface="+mn-lt"/>
              </a:rPr>
              <a:t>servisa</a:t>
            </a:r>
            <a:r>
              <a:rPr lang="en-US" sz="2000" dirty="0">
                <a:latin typeface="Aptos"/>
                <a:ea typeface="+mn-lt"/>
                <a:cs typeface="+mn-lt"/>
              </a:rPr>
              <a:t> u </a:t>
            </a:r>
            <a:r>
              <a:rPr lang="en-US" sz="2000" err="1">
                <a:latin typeface="Aptos"/>
                <a:ea typeface="+mn-lt"/>
                <a:cs typeface="+mn-lt"/>
              </a:rPr>
              <a:t>stvarnom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latin typeface="Aptos"/>
                <a:ea typeface="+mn-lt"/>
                <a:cs typeface="+mn-lt"/>
              </a:rPr>
              <a:t>vremenu</a:t>
            </a:r>
            <a:endParaRPr lang="en-US" sz="2000" dirty="0" err="1">
              <a:latin typeface="Aptos"/>
            </a:endParaRPr>
          </a:p>
          <a:p>
            <a:pPr>
              <a:buFont typeface="Arial"/>
            </a:pPr>
            <a:r>
              <a:rPr lang="en-US" sz="2000" dirty="0" err="1">
                <a:latin typeface="Aptos"/>
                <a:ea typeface="+mn-lt"/>
                <a:cs typeface="+mn-lt"/>
              </a:rPr>
              <a:t>povijest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svih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servisa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endParaRPr lang="en-US" sz="2000" dirty="0">
              <a:latin typeface="Aptos"/>
            </a:endParaRPr>
          </a:p>
        </p:txBody>
      </p:sp>
      <p:pic>
        <p:nvPicPr>
          <p:cNvPr id="8" name="Picture 7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EB67E330-3735-D731-F4D5-7AD9B7D86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32988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D0B6-7F8B-2E74-2E98-622D2D81D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Tehnička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arhitektura</a:t>
            </a:r>
            <a:endParaRPr lang="en-US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2CAB9-1B37-A15D-ED9A-EC904B3A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770" y="1725478"/>
            <a:ext cx="5573191" cy="7867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 err="1">
                <a:latin typeface="Aptos"/>
                <a:ea typeface="+mn-lt"/>
                <a:cs typeface="+mn-lt"/>
              </a:rPr>
              <a:t>arhitektonski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stil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Klijent-poslužitelj</a:t>
            </a:r>
            <a:endParaRPr lang="en-US" sz="2000">
              <a:latin typeface="Aptos"/>
            </a:endParaRP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908D4E9C-5611-F941-07A9-A3922E3B2566}"/>
              </a:ext>
            </a:extLst>
          </p:cNvPr>
          <p:cNvSpPr/>
          <p:nvPr/>
        </p:nvSpPr>
        <p:spPr>
          <a:xfrm>
            <a:off x="3525864" y="2260170"/>
            <a:ext cx="2195593" cy="1239864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/>
              </a:rPr>
              <a:t>React Frontend (SPA)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550F4FCA-C594-C3D7-1551-FC9DBA2648E3}"/>
              </a:ext>
            </a:extLst>
          </p:cNvPr>
          <p:cNvSpPr/>
          <p:nvPr/>
        </p:nvSpPr>
        <p:spPr>
          <a:xfrm>
            <a:off x="8808202" y="2260169"/>
            <a:ext cx="2195593" cy="1239864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latin typeface="Aptos"/>
              </a:rPr>
              <a:t>Java + Spring Boot Backend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BF081419-1263-9472-6881-220FBA469803}"/>
              </a:ext>
            </a:extLst>
          </p:cNvPr>
          <p:cNvSpPr/>
          <p:nvPr/>
        </p:nvSpPr>
        <p:spPr>
          <a:xfrm>
            <a:off x="8808201" y="4701151"/>
            <a:ext cx="2195593" cy="1239864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latin typeface="Aptos"/>
                <a:ea typeface="+mn-lt"/>
                <a:cs typeface="+mn-lt"/>
              </a:rPr>
              <a:t>PostgreSQL</a:t>
            </a:r>
            <a:br>
              <a:rPr lang="en-US" sz="2000" dirty="0">
                <a:latin typeface="Aptos"/>
              </a:rPr>
            </a:br>
            <a:r>
              <a:rPr lang="en-US" sz="2000" dirty="0">
                <a:latin typeface="Aptos"/>
              </a:rPr>
              <a:t>Database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EA50F0-D3DA-0E5A-3670-61A844DE74F7}"/>
              </a:ext>
            </a:extLst>
          </p:cNvPr>
          <p:cNvCxnSpPr/>
          <p:nvPr/>
        </p:nvCxnSpPr>
        <p:spPr>
          <a:xfrm flipV="1">
            <a:off x="5774310" y="2877716"/>
            <a:ext cx="2992960" cy="1291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6EC363-BEB9-B79E-B647-A906E94DA3DD}"/>
              </a:ext>
            </a:extLst>
          </p:cNvPr>
          <p:cNvSpPr txBox="1"/>
          <p:nvPr/>
        </p:nvSpPr>
        <p:spPr>
          <a:xfrm>
            <a:off x="6516573" y="2513673"/>
            <a:ext cx="15420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Aptos"/>
              </a:rPr>
              <a:t>REST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7B6F2B-5B3F-6C31-0141-9EB6EFAF8EB1}"/>
              </a:ext>
            </a:extLst>
          </p:cNvPr>
          <p:cNvSpPr txBox="1"/>
          <p:nvPr/>
        </p:nvSpPr>
        <p:spPr>
          <a:xfrm>
            <a:off x="6322514" y="2958916"/>
            <a:ext cx="190370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Aptos"/>
              </a:rPr>
              <a:t>JSON/HTTPS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1F7B25-1AD1-F773-2219-87E25292B02A}"/>
              </a:ext>
            </a:extLst>
          </p:cNvPr>
          <p:cNvCxnSpPr/>
          <p:nvPr/>
        </p:nvCxnSpPr>
        <p:spPr>
          <a:xfrm>
            <a:off x="9907490" y="3541926"/>
            <a:ext cx="0" cy="11656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EA8265-58C0-7AB7-189B-2B5C1B53264A}"/>
              </a:ext>
            </a:extLst>
          </p:cNvPr>
          <p:cNvSpPr txBox="1"/>
          <p:nvPr/>
        </p:nvSpPr>
        <p:spPr>
          <a:xfrm>
            <a:off x="4907796" y="4978832"/>
            <a:ext cx="373251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latin typeface="Aptos"/>
              </a:rPr>
              <a:t>Vanjski</a:t>
            </a:r>
            <a:r>
              <a:rPr lang="en-US" sz="2400" b="1" dirty="0">
                <a:latin typeface="Aptos"/>
              </a:rPr>
              <a:t> </a:t>
            </a:r>
            <a:r>
              <a:rPr lang="en-US" sz="2400" b="1" dirty="0" err="1">
                <a:latin typeface="Aptos"/>
              </a:rPr>
              <a:t>servisi</a:t>
            </a:r>
            <a:r>
              <a:rPr lang="en-US" sz="2400" b="1" dirty="0">
                <a:latin typeface="Aptos"/>
              </a:rPr>
              <a:t>:</a:t>
            </a:r>
            <a:endParaRPr lang="en-US" sz="2400">
              <a:latin typeface="Aptos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Aptos"/>
              </a:rPr>
              <a:t>OAuth2 (Google </a:t>
            </a:r>
            <a:r>
              <a:rPr lang="en-US" sz="2000" err="1">
                <a:latin typeface="Aptos"/>
              </a:rPr>
              <a:t>prijava</a:t>
            </a:r>
            <a:r>
              <a:rPr lang="en-US" sz="2000" dirty="0">
                <a:latin typeface="Aptos"/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Aptos"/>
              </a:rPr>
              <a:t>Google Maps API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Aptos"/>
              </a:rPr>
              <a:t>email </a:t>
            </a:r>
            <a:r>
              <a:rPr lang="en-US" sz="2000" dirty="0" err="1">
                <a:latin typeface="Aptos"/>
              </a:rPr>
              <a:t>notifikacije</a:t>
            </a:r>
            <a:r>
              <a:rPr lang="en-US" sz="2000" dirty="0">
                <a:latin typeface="Aptos"/>
              </a:rPr>
              <a:t> (API keys)</a:t>
            </a:r>
            <a:endParaRPr lang="en-US" sz="1600" dirty="0"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4375F2-4C50-00AE-1DD3-E9E113C1119C}"/>
              </a:ext>
            </a:extLst>
          </p:cNvPr>
          <p:cNvSpPr txBox="1"/>
          <p:nvPr/>
        </p:nvSpPr>
        <p:spPr>
          <a:xfrm>
            <a:off x="348713" y="3726050"/>
            <a:ext cx="4675323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latin typeface="Aptos"/>
              </a:rPr>
              <a:t>Tehnologije</a:t>
            </a:r>
            <a:r>
              <a:rPr lang="en-US" sz="2400" b="1" dirty="0">
                <a:latin typeface="Aptos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Aptos"/>
              </a:rPr>
              <a:t>frontend:</a:t>
            </a:r>
            <a:r>
              <a:rPr lang="en-US" sz="2000" dirty="0">
                <a:latin typeface="Aptos"/>
              </a:rPr>
              <a:t> React 19.2.0 (SPA)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Aptos"/>
              </a:rPr>
              <a:t>backend:</a:t>
            </a:r>
            <a:r>
              <a:rPr lang="en-US" sz="2000" dirty="0">
                <a:latin typeface="Aptos"/>
              </a:rPr>
              <a:t> Java 17 + Spring Boot 3.3.3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 err="1">
                <a:latin typeface="Aptos"/>
              </a:rPr>
              <a:t>baza</a:t>
            </a:r>
            <a:r>
              <a:rPr lang="en-US" sz="2000" b="1" dirty="0">
                <a:latin typeface="Aptos"/>
              </a:rPr>
              <a:t>:</a:t>
            </a:r>
            <a:r>
              <a:rPr lang="en-US" sz="2000" dirty="0">
                <a:latin typeface="Aptos"/>
              </a:rPr>
              <a:t> PostgreSQL (</a:t>
            </a:r>
            <a:r>
              <a:rPr lang="en-US" sz="2000" dirty="0" err="1">
                <a:latin typeface="Aptos"/>
              </a:rPr>
              <a:t>produkcija</a:t>
            </a:r>
            <a:r>
              <a:rPr lang="en-US" sz="2000" dirty="0">
                <a:latin typeface="Aptos"/>
              </a:rPr>
              <a:t>), H2 (</a:t>
            </a:r>
            <a:r>
              <a:rPr lang="en-US" sz="2000" dirty="0" err="1">
                <a:latin typeface="Aptos"/>
              </a:rPr>
              <a:t>testiranje</a:t>
            </a:r>
            <a:r>
              <a:rPr lang="en-US" sz="2000" dirty="0">
                <a:latin typeface="Aptos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latin typeface="Aptos"/>
              </a:rPr>
              <a:t>autentikacija</a:t>
            </a:r>
            <a:r>
              <a:rPr lang="en-US" sz="2000" b="1" dirty="0">
                <a:latin typeface="Aptos"/>
              </a:rPr>
              <a:t>:</a:t>
            </a:r>
            <a:r>
              <a:rPr lang="en-US" sz="2000" dirty="0">
                <a:latin typeface="Aptos"/>
              </a:rPr>
              <a:t> Spring Security + OAuth2 (Google)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Aptos"/>
              </a:rPr>
              <a:t>ORM:</a:t>
            </a:r>
            <a:r>
              <a:rPr lang="en-US" sz="2000" dirty="0">
                <a:latin typeface="Aptos"/>
              </a:rPr>
              <a:t> Spring Data JPA (Hibernate 6.5.2)</a:t>
            </a:r>
          </a:p>
          <a:p>
            <a:pPr algn="ctr"/>
            <a:endParaRPr lang="en-US" sz="2000">
              <a:latin typeface="Aptos"/>
            </a:endParaRPr>
          </a:p>
        </p:txBody>
      </p:sp>
      <p:pic>
        <p:nvPicPr>
          <p:cNvPr id="17" name="Picture 16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55493DFB-7064-5BCB-2EE1-991E4A9A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53137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6B74-CFDA-8C64-D1E4-057AA0C9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  <a:ea typeface="+mj-lt"/>
                <a:cs typeface="+mj-lt"/>
              </a:rPr>
              <a:t>Baza </a:t>
            </a:r>
            <a:r>
              <a:rPr lang="en-US" dirty="0" err="1">
                <a:latin typeface="Aptos"/>
                <a:ea typeface="+mj-lt"/>
                <a:cs typeface="+mj-lt"/>
              </a:rPr>
              <a:t>podataka</a:t>
            </a:r>
            <a:r>
              <a:rPr lang="en-US" dirty="0">
                <a:latin typeface="Aptos"/>
                <a:ea typeface="+mj-lt"/>
                <a:cs typeface="+mj-lt"/>
              </a:rPr>
              <a:t> - PostgreSQL</a:t>
            </a:r>
            <a:endParaRPr lang="en-US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04B98-CBAA-81C7-8E7F-4DE087667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563" y="1893455"/>
            <a:ext cx="4023360" cy="20976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err="1">
                <a:latin typeface="Aptos"/>
              </a:rPr>
              <a:t>Prednosti</a:t>
            </a:r>
            <a:r>
              <a:rPr lang="en-US" sz="2000" b="1" dirty="0">
                <a:latin typeface="Aptos"/>
              </a:rPr>
              <a:t> </a:t>
            </a:r>
            <a:r>
              <a:rPr lang="en-US" sz="2000" b="1" err="1">
                <a:latin typeface="Aptos"/>
              </a:rPr>
              <a:t>postgreSQL</a:t>
            </a:r>
            <a:r>
              <a:rPr lang="en-US" sz="2000" b="1" dirty="0">
                <a:latin typeface="Aptos"/>
              </a:rPr>
              <a:t>-a: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✓ ACID </a:t>
            </a:r>
            <a:r>
              <a:rPr lang="en-US" sz="2000" dirty="0" err="1">
                <a:latin typeface="Aptos"/>
                <a:ea typeface="+mn-lt"/>
                <a:cs typeface="+mn-lt"/>
              </a:rPr>
              <a:t>transakcije</a:t>
            </a:r>
            <a:endParaRPr lang="en-US" sz="2000" dirty="0" err="1">
              <a:latin typeface="Aptos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✓ </a:t>
            </a:r>
            <a:r>
              <a:rPr lang="en-US" sz="2000" dirty="0" err="1">
                <a:latin typeface="Aptos"/>
                <a:ea typeface="+mn-lt"/>
                <a:cs typeface="+mn-lt"/>
              </a:rPr>
              <a:t>relacijske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veze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između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entiteta</a:t>
            </a:r>
            <a:endParaRPr lang="en-US" sz="2000" dirty="0" err="1">
              <a:latin typeface="Aptos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✓ </a:t>
            </a:r>
            <a:r>
              <a:rPr lang="en-US" sz="2000" dirty="0" err="1">
                <a:latin typeface="Aptos"/>
                <a:ea typeface="+mn-lt"/>
                <a:cs typeface="+mn-lt"/>
              </a:rPr>
              <a:t>visoka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stabilnost</a:t>
            </a:r>
            <a:endParaRPr lang="en-US" sz="2000" dirty="0" err="1">
              <a:latin typeface="Aptos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✓ </a:t>
            </a:r>
            <a:r>
              <a:rPr lang="en-US" sz="2000" dirty="0" err="1">
                <a:latin typeface="Aptos"/>
                <a:ea typeface="+mn-lt"/>
                <a:cs typeface="+mn-lt"/>
              </a:rPr>
              <a:t>mogućnost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skaliranja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endParaRPr lang="en-US" sz="2000" dirty="0"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6C8B9-F038-206B-C535-A68DDDE5B71D}"/>
              </a:ext>
            </a:extLst>
          </p:cNvPr>
          <p:cNvSpPr txBox="1"/>
          <p:nvPr/>
        </p:nvSpPr>
        <p:spPr>
          <a:xfrm>
            <a:off x="5153891" y="1895763"/>
            <a:ext cx="6096000" cy="48628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latin typeface="Aptos"/>
              </a:rPr>
              <a:t>Glavne</a:t>
            </a:r>
            <a:r>
              <a:rPr lang="en-US" sz="2000" b="1" dirty="0">
                <a:latin typeface="Aptos"/>
              </a:rPr>
              <a:t> </a:t>
            </a:r>
            <a:r>
              <a:rPr lang="en-US" sz="2000" b="1" err="1">
                <a:latin typeface="Aptos"/>
              </a:rPr>
              <a:t>tablice</a:t>
            </a:r>
            <a:r>
              <a:rPr lang="en-US" sz="2000" b="1" dirty="0">
                <a:latin typeface="Aptos"/>
              </a:rPr>
              <a:t>:</a:t>
            </a: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err="1">
                <a:latin typeface="Aptos"/>
              </a:rPr>
              <a:t>osoba</a:t>
            </a:r>
            <a:r>
              <a:rPr lang="en-US" sz="2000" dirty="0">
                <a:latin typeface="Aptos"/>
              </a:rPr>
              <a:t> - </a:t>
            </a:r>
            <a:r>
              <a:rPr lang="en-US" sz="2000" err="1">
                <a:latin typeface="Aptos"/>
              </a:rPr>
              <a:t>korisnici</a:t>
            </a:r>
            <a:r>
              <a:rPr lang="en-US" sz="2000" dirty="0">
                <a:latin typeface="Aptos"/>
              </a:rPr>
              <a:t>, </a:t>
            </a:r>
            <a:r>
              <a:rPr lang="en-US" sz="2000" err="1">
                <a:latin typeface="Aptos"/>
              </a:rPr>
              <a:t>serviseri</a:t>
            </a:r>
            <a:r>
              <a:rPr lang="en-US" sz="2000" dirty="0">
                <a:latin typeface="Aptos"/>
              </a:rPr>
              <a:t>, </a:t>
            </a:r>
            <a:r>
              <a:rPr lang="en-US" sz="2000" err="1">
                <a:latin typeface="Aptos"/>
              </a:rPr>
              <a:t>administratori</a:t>
            </a:r>
            <a:endParaRPr lang="en-US" sz="200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err="1">
                <a:latin typeface="Aptos"/>
              </a:rPr>
              <a:t>vozilo</a:t>
            </a:r>
            <a:r>
              <a:rPr lang="en-US" sz="2000" dirty="0">
                <a:latin typeface="Aptos"/>
              </a:rPr>
              <a:t> - </a:t>
            </a:r>
            <a:r>
              <a:rPr lang="en-US" sz="2000" err="1">
                <a:latin typeface="Aptos"/>
              </a:rPr>
              <a:t>evidencija</a:t>
            </a:r>
            <a:r>
              <a:rPr lang="en-US" sz="2000" dirty="0">
                <a:latin typeface="Aptos"/>
              </a:rPr>
              <a:t> </a:t>
            </a:r>
            <a:r>
              <a:rPr lang="en-US" sz="2000" err="1">
                <a:latin typeface="Aptos"/>
              </a:rPr>
              <a:t>vozila</a:t>
            </a:r>
            <a:r>
              <a:rPr lang="en-US" sz="2000" dirty="0">
                <a:latin typeface="Aptos"/>
              </a:rPr>
              <a:t> </a:t>
            </a:r>
            <a:r>
              <a:rPr lang="en-US" sz="2000" err="1">
                <a:latin typeface="Aptos"/>
              </a:rPr>
              <a:t>korisnika</a:t>
            </a:r>
            <a:endParaRPr lang="en-US" sz="200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err="1">
                <a:latin typeface="Aptos"/>
              </a:rPr>
              <a:t>marka</a:t>
            </a:r>
            <a:r>
              <a:rPr lang="en-US" sz="2000" b="1" dirty="0">
                <a:latin typeface="Aptos"/>
              </a:rPr>
              <a:t>/model</a:t>
            </a:r>
            <a:r>
              <a:rPr lang="en-US" sz="2000" dirty="0">
                <a:latin typeface="Aptos"/>
              </a:rPr>
              <a:t> - </a:t>
            </a:r>
            <a:r>
              <a:rPr lang="en-US" sz="2000" err="1">
                <a:latin typeface="Aptos"/>
              </a:rPr>
              <a:t>katalog</a:t>
            </a:r>
            <a:r>
              <a:rPr lang="en-US" sz="2000" dirty="0">
                <a:latin typeface="Aptos"/>
              </a:rPr>
              <a:t> </a:t>
            </a:r>
            <a:r>
              <a:rPr lang="en-US" sz="2000" err="1">
                <a:latin typeface="Aptos"/>
              </a:rPr>
              <a:t>vozila</a:t>
            </a:r>
            <a:endParaRPr lang="en-US" sz="200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err="1">
                <a:latin typeface="Aptos"/>
              </a:rPr>
              <a:t>servis</a:t>
            </a:r>
            <a:r>
              <a:rPr lang="en-US" sz="2000" dirty="0">
                <a:latin typeface="Aptos"/>
              </a:rPr>
              <a:t> - </a:t>
            </a:r>
            <a:r>
              <a:rPr lang="en-US" sz="2000" err="1">
                <a:latin typeface="Aptos"/>
              </a:rPr>
              <a:t>autoservisni</a:t>
            </a:r>
            <a:r>
              <a:rPr lang="en-US" sz="2000" dirty="0">
                <a:latin typeface="Aptos"/>
              </a:rPr>
              <a:t> </a:t>
            </a:r>
            <a:r>
              <a:rPr lang="en-US" sz="2000" err="1">
                <a:latin typeface="Aptos"/>
              </a:rPr>
              <a:t>centri</a:t>
            </a:r>
            <a:endParaRPr lang="en-US" sz="200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dirty="0" err="1">
                <a:latin typeface="Aptos"/>
              </a:rPr>
              <a:t>Serviser</a:t>
            </a:r>
            <a:r>
              <a:rPr lang="en-US" sz="2000" b="1" dirty="0">
                <a:latin typeface="Aptos"/>
              </a:rPr>
              <a:t> </a:t>
            </a:r>
            <a:r>
              <a:rPr lang="en-US" sz="2000" dirty="0">
                <a:latin typeface="Aptos"/>
              </a:rPr>
              <a:t>- </a:t>
            </a:r>
            <a:r>
              <a:rPr lang="en-US" sz="2000" dirty="0" err="1">
                <a:latin typeface="Aptos"/>
              </a:rPr>
              <a:t>pomoćna</a:t>
            </a:r>
            <a:r>
              <a:rPr lang="en-US" sz="2000" b="1" dirty="0">
                <a:latin typeface="Aptos"/>
              </a:rPr>
              <a:t> </a:t>
            </a:r>
            <a:endParaRPr lang="en-US" sz="2000" dirty="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dirty="0" err="1">
                <a:latin typeface="Aptos"/>
              </a:rPr>
              <a:t>termin</a:t>
            </a:r>
            <a:r>
              <a:rPr lang="en-US" sz="2000" dirty="0">
                <a:latin typeface="Aptos"/>
              </a:rPr>
              <a:t> - </a:t>
            </a:r>
            <a:r>
              <a:rPr lang="en-US" sz="2000" dirty="0" err="1">
                <a:latin typeface="Aptos"/>
              </a:rPr>
              <a:t>raspoloživi</a:t>
            </a:r>
            <a:r>
              <a:rPr lang="en-US" sz="2000" dirty="0">
                <a:latin typeface="Aptos"/>
              </a:rPr>
              <a:t> termini</a:t>
            </a:r>
            <a:endParaRPr lang="en-US" sz="2000" b="1" dirty="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dirty="0" err="1">
                <a:latin typeface="Aptos"/>
              </a:rPr>
              <a:t>prijava_servisa</a:t>
            </a:r>
            <a:r>
              <a:rPr lang="en-US" sz="2000" dirty="0">
                <a:latin typeface="Aptos"/>
              </a:rPr>
              <a:t> - </a:t>
            </a:r>
            <a:r>
              <a:rPr lang="en-US" sz="2000" dirty="0" err="1">
                <a:latin typeface="Aptos"/>
              </a:rPr>
              <a:t>servisni</a:t>
            </a:r>
            <a:r>
              <a:rPr lang="en-US" sz="2000" dirty="0">
                <a:latin typeface="Aptos"/>
              </a:rPr>
              <a:t> </a:t>
            </a:r>
            <a:r>
              <a:rPr lang="en-US" sz="2000" dirty="0" err="1">
                <a:latin typeface="Aptos"/>
              </a:rPr>
              <a:t>nalozi</a:t>
            </a: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err="1">
                <a:latin typeface="Aptos"/>
              </a:rPr>
              <a:t>zamjena_vozilo</a:t>
            </a:r>
            <a:r>
              <a:rPr lang="en-US" sz="2000" dirty="0">
                <a:latin typeface="Aptos"/>
              </a:rPr>
              <a:t> - </a:t>
            </a:r>
            <a:r>
              <a:rPr lang="en-US" sz="2000" err="1">
                <a:latin typeface="Aptos"/>
              </a:rPr>
              <a:t>zamjenska</a:t>
            </a:r>
            <a:r>
              <a:rPr lang="en-US" sz="2000" dirty="0">
                <a:latin typeface="Aptos"/>
              </a:rPr>
              <a:t> </a:t>
            </a:r>
            <a:r>
              <a:rPr lang="en-US" sz="2000" err="1">
                <a:latin typeface="Aptos"/>
              </a:rPr>
              <a:t>vozila</a:t>
            </a:r>
            <a:endParaRPr lang="en-US" sz="200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err="1">
                <a:latin typeface="Aptos"/>
              </a:rPr>
              <a:t>rezervacija_zamjene</a:t>
            </a:r>
            <a:r>
              <a:rPr lang="en-US" sz="2000" dirty="0">
                <a:latin typeface="Aptos"/>
              </a:rPr>
              <a:t> - </a:t>
            </a:r>
            <a:r>
              <a:rPr lang="en-US" sz="2000" err="1">
                <a:latin typeface="Aptos"/>
              </a:rPr>
              <a:t>rezervacije</a:t>
            </a:r>
            <a:endParaRPr lang="en-US" sz="200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err="1">
                <a:latin typeface="Aptos"/>
              </a:rPr>
              <a:t>napomena_servisera</a:t>
            </a:r>
            <a:r>
              <a:rPr lang="en-US" sz="2000" dirty="0">
                <a:latin typeface="Aptos"/>
              </a:rPr>
              <a:t> - </a:t>
            </a:r>
            <a:r>
              <a:rPr lang="en-US" sz="2000" err="1">
                <a:latin typeface="Aptos"/>
              </a:rPr>
              <a:t>napomene</a:t>
            </a:r>
            <a:r>
              <a:rPr lang="en-US" sz="2000" dirty="0">
                <a:latin typeface="Aptos"/>
              </a:rPr>
              <a:t> </a:t>
            </a:r>
            <a:r>
              <a:rPr lang="en-US" sz="2000" err="1">
                <a:latin typeface="Aptos"/>
              </a:rPr>
              <a:t>na</a:t>
            </a:r>
            <a:r>
              <a:rPr lang="en-US" sz="2000" dirty="0">
                <a:latin typeface="Aptos"/>
              </a:rPr>
              <a:t> </a:t>
            </a:r>
            <a:r>
              <a:rPr lang="en-US" sz="2000" err="1">
                <a:latin typeface="Aptos"/>
              </a:rPr>
              <a:t>prijave</a:t>
            </a:r>
            <a:endParaRPr lang="en-US" sz="200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err="1">
                <a:latin typeface="Aptos"/>
              </a:rPr>
              <a:t>obrazac</a:t>
            </a:r>
            <a:r>
              <a:rPr lang="en-US" sz="2000" dirty="0">
                <a:latin typeface="Aptos"/>
              </a:rPr>
              <a:t> - </a:t>
            </a:r>
            <a:r>
              <a:rPr lang="en-US" sz="2000" err="1">
                <a:latin typeface="Aptos"/>
              </a:rPr>
              <a:t>generirani</a:t>
            </a:r>
            <a:r>
              <a:rPr lang="en-US" sz="2000" dirty="0">
                <a:latin typeface="Aptos"/>
              </a:rPr>
              <a:t> PDF </a:t>
            </a:r>
            <a:r>
              <a:rPr lang="en-US" sz="2000" err="1">
                <a:latin typeface="Aptos"/>
              </a:rPr>
              <a:t>dokumenti</a:t>
            </a:r>
            <a:endParaRPr lang="en-US" sz="2000">
              <a:latin typeface="Aptos"/>
            </a:endParaRPr>
          </a:p>
          <a:p>
            <a:pPr marL="274320" indent="-285750">
              <a:spcBef>
                <a:spcPts val="300"/>
              </a:spcBef>
              <a:buFont typeface="Arial"/>
              <a:buChar char="•"/>
            </a:pPr>
            <a:r>
              <a:rPr lang="en-US" sz="2000" b="1" err="1">
                <a:latin typeface="Aptos"/>
              </a:rPr>
              <a:t>izvjestaj</a:t>
            </a:r>
            <a:r>
              <a:rPr lang="en-US" sz="2000" dirty="0">
                <a:latin typeface="Aptos"/>
              </a:rPr>
              <a:t> - </a:t>
            </a:r>
            <a:r>
              <a:rPr lang="en-US" sz="2000" err="1">
                <a:latin typeface="Aptos"/>
              </a:rPr>
              <a:t>izvještaji</a:t>
            </a:r>
            <a:r>
              <a:rPr lang="en-US" sz="2000" dirty="0">
                <a:latin typeface="Aptos"/>
              </a:rPr>
              <a:t> </a:t>
            </a:r>
            <a:r>
              <a:rPr lang="en-US" sz="2000" err="1">
                <a:latin typeface="Aptos"/>
              </a:rPr>
              <a:t>i</a:t>
            </a:r>
            <a:r>
              <a:rPr lang="en-US" sz="2000" dirty="0">
                <a:latin typeface="Aptos"/>
              </a:rPr>
              <a:t> </a:t>
            </a:r>
            <a:r>
              <a:rPr lang="en-US" sz="2000" err="1">
                <a:latin typeface="Aptos"/>
              </a:rPr>
              <a:t>statistika</a:t>
            </a:r>
            <a:endParaRPr lang="en-US" sz="2000">
              <a:latin typeface="Aptos"/>
            </a:endParaRPr>
          </a:p>
          <a:p>
            <a:pPr marL="285750" indent="-285750" algn="ctr">
              <a:buFont typeface="Arial"/>
              <a:buChar char="•"/>
            </a:pPr>
            <a:endParaRPr lang="en-US" sz="2000" dirty="0">
              <a:latin typeface="Aptos"/>
            </a:endParaRPr>
          </a:p>
        </p:txBody>
      </p:sp>
      <p:pic>
        <p:nvPicPr>
          <p:cNvPr id="6" name="Picture 5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74CCB5FC-70AD-A110-C45A-04A0789B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8559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331C-09CC-3AB5-8062-553D52C5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10764605" cy="1338477"/>
          </a:xfrm>
        </p:spPr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Korisničke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uloge</a:t>
            </a:r>
            <a:r>
              <a:rPr lang="en-US" dirty="0">
                <a:latin typeface="Aptos"/>
                <a:ea typeface="+mj-lt"/>
                <a:cs typeface="+mj-lt"/>
              </a:rPr>
              <a:t> </a:t>
            </a:r>
            <a:r>
              <a:rPr lang="en-US" dirty="0" err="1">
                <a:latin typeface="Aptos"/>
                <a:ea typeface="+mj-lt"/>
                <a:cs typeface="+mj-lt"/>
              </a:rPr>
              <a:t>i</a:t>
            </a:r>
            <a:r>
              <a:rPr lang="en-US" dirty="0">
                <a:latin typeface="Aptos"/>
                <a:ea typeface="+mj-lt"/>
                <a:cs typeface="+mj-lt"/>
              </a:rPr>
              <a:t> </a:t>
            </a:r>
            <a:r>
              <a:rPr lang="en-US" dirty="0" err="1">
                <a:latin typeface="Aptos"/>
                <a:ea typeface="+mj-lt"/>
                <a:cs typeface="+mj-lt"/>
              </a:rPr>
              <a:t>ključne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funkcionalnosti</a:t>
            </a:r>
            <a:endParaRPr lang="en-US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60702-5984-1B08-CFAF-ACAC86729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845179" cy="502879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err="1">
                <a:latin typeface="Aptos"/>
                <a:ea typeface="+mn-lt"/>
                <a:cs typeface="+mn-lt"/>
              </a:rPr>
              <a:t>Neregistrirani</a:t>
            </a:r>
            <a:r>
              <a:rPr lang="en-US" sz="2400" b="1" dirty="0">
                <a:latin typeface="Aptos"/>
                <a:ea typeface="+mn-lt"/>
                <a:cs typeface="+mn-lt"/>
              </a:rPr>
              <a:t> </a:t>
            </a:r>
            <a:r>
              <a:rPr lang="en-US" sz="2400" b="1" err="1">
                <a:latin typeface="Aptos"/>
                <a:ea typeface="+mn-lt"/>
                <a:cs typeface="+mn-lt"/>
              </a:rPr>
              <a:t>korisnik</a:t>
            </a:r>
            <a:r>
              <a:rPr lang="en-US" sz="2400" b="1" dirty="0">
                <a:latin typeface="Aptos"/>
                <a:ea typeface="+mn-lt"/>
                <a:cs typeface="+mn-lt"/>
              </a:rPr>
              <a:t> :</a:t>
            </a:r>
            <a:endParaRPr lang="en-US" sz="2400">
              <a:latin typeface="Aptos"/>
            </a:endParaRPr>
          </a:p>
          <a:p>
            <a:pPr>
              <a:spcBef>
                <a:spcPts val="900"/>
              </a:spcBef>
            </a:pPr>
            <a:r>
              <a:rPr lang="en-US" sz="20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pregled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osnovnih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informacija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o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servisu</a:t>
            </a:r>
            <a:endParaRPr lang="en-US" sz="2000" spc="10" dirty="0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900"/>
              </a:spcBef>
            </a:pPr>
            <a:r>
              <a:rPr lang="en-US" sz="2000" dirty="0">
                <a:latin typeface="Aptos"/>
                <a:ea typeface="+mn-lt"/>
                <a:cs typeface="+mn-lt"/>
              </a:rPr>
              <a:t>Google Maps </a:t>
            </a:r>
            <a:r>
              <a:rPr lang="en-US" sz="2000" dirty="0" err="1">
                <a:latin typeface="Aptos"/>
                <a:ea typeface="+mn-lt"/>
                <a:cs typeface="+mn-lt"/>
              </a:rPr>
              <a:t>lokacija</a:t>
            </a:r>
            <a:endParaRPr lang="en-US" sz="2000" dirty="0">
              <a:latin typeface="Aptos"/>
              <a:ea typeface="+mn-lt"/>
              <a:cs typeface="+mn-lt"/>
            </a:endParaRPr>
          </a:p>
          <a:p>
            <a:pPr>
              <a:spcBef>
                <a:spcPts val="900"/>
              </a:spcBef>
            </a:pPr>
            <a:r>
              <a:rPr lang="en-US" sz="2000" dirty="0" err="1">
                <a:latin typeface="Aptos"/>
                <a:ea typeface="+mn-lt"/>
                <a:cs typeface="+mn-lt"/>
              </a:rPr>
              <a:t>registracija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putem</a:t>
            </a:r>
            <a:r>
              <a:rPr lang="en-US" sz="2000" dirty="0">
                <a:latin typeface="Aptos"/>
                <a:ea typeface="+mn-lt"/>
                <a:cs typeface="+mn-lt"/>
              </a:rPr>
              <a:t> OAuth2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r>
              <a:rPr lang="en-US" sz="2400" b="1" err="1">
                <a:latin typeface="Aptos"/>
                <a:ea typeface="+mn-lt"/>
                <a:cs typeface="+mn-lt"/>
              </a:rPr>
              <a:t>Registrirani</a:t>
            </a:r>
            <a:r>
              <a:rPr lang="en-US" sz="2400" b="1" dirty="0">
                <a:latin typeface="Aptos"/>
                <a:ea typeface="+mn-lt"/>
                <a:cs typeface="+mn-lt"/>
              </a:rPr>
              <a:t> </a:t>
            </a:r>
            <a:r>
              <a:rPr lang="en-US" sz="2400" b="1" err="1">
                <a:latin typeface="Aptos"/>
                <a:ea typeface="+mn-lt"/>
                <a:cs typeface="+mn-lt"/>
              </a:rPr>
              <a:t>korisnik</a:t>
            </a:r>
            <a:r>
              <a:rPr lang="en-US" sz="2400" b="1" dirty="0">
                <a:latin typeface="Aptos"/>
                <a:ea typeface="+mn-lt"/>
                <a:cs typeface="+mn-lt"/>
              </a:rPr>
              <a:t> :</a:t>
            </a:r>
            <a:endParaRPr lang="en-US" sz="2400">
              <a:latin typeface="Aptos"/>
            </a:endParaRPr>
          </a:p>
          <a:p>
            <a:pPr>
              <a:spcBef>
                <a:spcPts val="900"/>
              </a:spcBef>
            </a:pPr>
            <a:r>
              <a:rPr lang="en-US" sz="2000" dirty="0">
                <a:latin typeface="Aptos"/>
                <a:ea typeface="+mn-lt"/>
                <a:cs typeface="+mn-lt"/>
              </a:rPr>
              <a:t>online </a:t>
            </a:r>
            <a:r>
              <a:rPr lang="en-US" sz="2000" dirty="0" err="1">
                <a:latin typeface="Aptos"/>
                <a:ea typeface="+mn-lt"/>
                <a:cs typeface="+mn-lt"/>
              </a:rPr>
              <a:t>prijava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vozila</a:t>
            </a:r>
            <a:r>
              <a:rPr lang="en-US" sz="2000" dirty="0">
                <a:latin typeface="Aptos"/>
                <a:ea typeface="+mn-lt"/>
                <a:cs typeface="+mn-lt"/>
              </a:rPr>
              <a:t> 24/7</a:t>
            </a:r>
            <a:endParaRPr lang="en-US" sz="2000">
              <a:latin typeface="Aptos"/>
            </a:endParaRPr>
          </a:p>
          <a:p>
            <a:pPr>
              <a:spcBef>
                <a:spcPts val="900"/>
              </a:spcBef>
            </a:pPr>
            <a:r>
              <a:rPr lang="en-US" sz="2000" dirty="0" err="1">
                <a:latin typeface="Aptos"/>
                <a:ea typeface="+mn-lt"/>
                <a:cs typeface="+mn-lt"/>
              </a:rPr>
              <a:t>odabir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servisera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latin typeface="Aptos"/>
                <a:ea typeface="+mn-lt"/>
                <a:cs typeface="+mn-lt"/>
              </a:rPr>
              <a:t> termina</a:t>
            </a:r>
            <a:endParaRPr lang="en-US" sz="2000">
              <a:latin typeface="Aptos"/>
            </a:endParaRPr>
          </a:p>
          <a:p>
            <a:pPr>
              <a:spcBef>
                <a:spcPts val="900"/>
              </a:spcBef>
            </a:pPr>
            <a:r>
              <a:rPr lang="en-US" sz="2000" dirty="0" err="1">
                <a:latin typeface="Aptos"/>
                <a:ea typeface="+mn-lt"/>
                <a:cs typeface="+mn-lt"/>
              </a:rPr>
              <a:t>rezervacija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zamjenskog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vozila</a:t>
            </a:r>
            <a:endParaRPr lang="en-US" sz="2000" dirty="0">
              <a:latin typeface="Aptos"/>
            </a:endParaRPr>
          </a:p>
          <a:p>
            <a:pPr>
              <a:spcBef>
                <a:spcPts val="900"/>
              </a:spcBef>
            </a:pPr>
            <a:r>
              <a:rPr lang="en-US" sz="2000" dirty="0" err="1">
                <a:latin typeface="Aptos"/>
                <a:ea typeface="+mn-lt"/>
                <a:cs typeface="+mn-lt"/>
              </a:rPr>
              <a:t>praćenje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statusa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popravka</a:t>
            </a:r>
            <a:endParaRPr lang="en-US" sz="2000" dirty="0">
              <a:latin typeface="Aptos"/>
            </a:endParaRPr>
          </a:p>
          <a:p>
            <a:pPr>
              <a:spcBef>
                <a:spcPts val="900"/>
              </a:spcBef>
            </a:pPr>
            <a:r>
              <a:rPr lang="en-US" sz="2000" dirty="0">
                <a:latin typeface="Aptos"/>
                <a:ea typeface="+mn-lt"/>
                <a:cs typeface="+mn-lt"/>
              </a:rPr>
              <a:t>email </a:t>
            </a:r>
            <a:r>
              <a:rPr lang="en-US" sz="2000" dirty="0" err="1">
                <a:latin typeface="Aptos"/>
                <a:ea typeface="+mn-lt"/>
                <a:cs typeface="+mn-lt"/>
              </a:rPr>
              <a:t>notifikacije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podsjetnici</a:t>
            </a:r>
            <a:endParaRPr lang="en-US" sz="2000"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336C4-4F34-DAC3-850B-8199F903A393}"/>
              </a:ext>
            </a:extLst>
          </p:cNvPr>
          <p:cNvSpPr txBox="1"/>
          <p:nvPr/>
        </p:nvSpPr>
        <p:spPr>
          <a:xfrm>
            <a:off x="6101013" y="1829803"/>
            <a:ext cx="4837697" cy="4478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2400" b="1" spc="10" err="1">
                <a:latin typeface="Aptos"/>
                <a:ea typeface="+mn-lt"/>
                <a:cs typeface="+mn-lt"/>
              </a:rPr>
              <a:t>Serviseri</a:t>
            </a:r>
            <a:r>
              <a:rPr lang="en-US" sz="2400" b="1" spc="10" dirty="0">
                <a:latin typeface="Aptos"/>
                <a:ea typeface="+mn-lt"/>
                <a:cs typeface="+mn-lt"/>
              </a:rPr>
              <a:t>:​</a:t>
            </a:r>
            <a:endParaRPr lang="en-US" sz="2400"/>
          </a:p>
          <a:p>
            <a:pPr marL="228600" lvl="0" indent="-228600">
              <a:lnSpc>
                <a:spcPct val="95000"/>
              </a:lnSpc>
              <a:spcBef>
                <a:spcPts val="9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uvid</a:t>
            </a:r>
            <a:r>
              <a:rPr lang="en-US" sz="2000" spc="10" dirty="0">
                <a:latin typeface="Aptos"/>
                <a:ea typeface="+mn-lt"/>
                <a:cs typeface="+mn-lt"/>
              </a:rPr>
              <a:t> u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dodijeljene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prijave</a:t>
            </a:r>
            <a:r>
              <a:rPr lang="en-US" sz="2000" spc="10" dirty="0">
                <a:latin typeface="Aptos"/>
                <a:ea typeface="+mn-lt"/>
                <a:cs typeface="+mn-lt"/>
              </a:rPr>
              <a:t>​</a:t>
            </a:r>
          </a:p>
          <a:p>
            <a:pPr marL="228600" lvl="0" indent="-228600">
              <a:lnSpc>
                <a:spcPct val="95000"/>
              </a:lnSpc>
              <a:spcBef>
                <a:spcPts val="9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dodavanje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napomena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potvrđivanje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radnji</a:t>
            </a:r>
            <a:r>
              <a:rPr lang="en-US" sz="2000" spc="10" dirty="0">
                <a:latin typeface="Aptos"/>
                <a:ea typeface="+mn-lt"/>
                <a:cs typeface="+mn-lt"/>
              </a:rPr>
              <a:t>​</a:t>
            </a:r>
          </a:p>
          <a:p>
            <a:pPr marL="228600" lvl="0" indent="-228600">
              <a:lnSpc>
                <a:spcPct val="95000"/>
              </a:lnSpc>
              <a:spcBef>
                <a:spcPts val="9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generiranje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 PDF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obrazaca</a:t>
            </a:r>
            <a:r>
              <a:rPr lang="en-US" sz="2000" spc="10" dirty="0">
                <a:latin typeface="Aptos"/>
                <a:ea typeface="+mn-lt"/>
                <a:cs typeface="+mn-lt"/>
              </a:rPr>
              <a:t>​</a:t>
            </a: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endParaRPr lang="en-US" sz="2000" spc="10" dirty="0">
              <a:latin typeface="Aptos"/>
              <a:ea typeface="+mn-lt"/>
              <a:cs typeface="+mn-lt"/>
            </a:endParaRPr>
          </a:p>
          <a:p>
            <a:pPr lvl="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2400" b="1" spc="10" dirty="0">
                <a:latin typeface="Aptos"/>
                <a:ea typeface="+mn-lt"/>
                <a:cs typeface="+mn-lt"/>
              </a:rPr>
              <a:t>Administrator:​</a:t>
            </a:r>
          </a:p>
          <a:p>
            <a:pPr marL="228600" lvl="0" indent="-228600">
              <a:lnSpc>
                <a:spcPct val="95000"/>
              </a:lnSpc>
              <a:spcBef>
                <a:spcPts val="9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upravljanje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korisnicima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serviserima</a:t>
            </a:r>
            <a:r>
              <a:rPr lang="en-US" sz="2000" spc="10" dirty="0">
                <a:latin typeface="Aptos"/>
                <a:ea typeface="+mn-lt"/>
                <a:cs typeface="+mn-lt"/>
              </a:rPr>
              <a:t>​</a:t>
            </a:r>
          </a:p>
          <a:p>
            <a:pPr marL="228600" lvl="0" indent="-228600">
              <a:lnSpc>
                <a:spcPct val="95000"/>
              </a:lnSpc>
              <a:spcBef>
                <a:spcPts val="9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statistika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izvještaji</a:t>
            </a:r>
            <a:r>
              <a:rPr lang="en-US" sz="2000" spc="10" dirty="0">
                <a:latin typeface="Aptos"/>
                <a:ea typeface="+mn-lt"/>
                <a:cs typeface="+mn-lt"/>
              </a:rPr>
              <a:t> (PDF, XML, XLSX)</a:t>
            </a:r>
          </a:p>
        </p:txBody>
      </p:sp>
      <p:pic>
        <p:nvPicPr>
          <p:cNvPr id="6" name="Picture 5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C18B1846-8472-88BC-6D8C-64D5E1777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0321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1ACBE00-0221-433D-8EA5-D9D7B45F3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980910-96FA-4DA6-93F5-97873AF1B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F1CB7E2-0098-4A7C-B377-037DCA4C8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0B15F-D34A-8279-84D7-6EB0DC2B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800" err="1">
                <a:latin typeface="Aptos"/>
              </a:rPr>
              <a:t>Prijava</a:t>
            </a:r>
            <a:r>
              <a:rPr lang="en-US" sz="4800" dirty="0">
                <a:latin typeface="Aptos"/>
              </a:rPr>
              <a:t> </a:t>
            </a:r>
            <a:r>
              <a:rPr lang="en-US" sz="4800" err="1">
                <a:latin typeface="Aptos"/>
              </a:rPr>
              <a:t>vozila</a:t>
            </a:r>
            <a:r>
              <a:rPr lang="en-US" sz="4800" dirty="0">
                <a:latin typeface="Aptos"/>
              </a:rPr>
              <a:t> u </a:t>
            </a:r>
            <a:r>
              <a:rPr lang="en-US" sz="4800" err="1">
                <a:latin typeface="Aptos"/>
              </a:rPr>
              <a:t>sustav</a:t>
            </a:r>
            <a:r>
              <a:rPr lang="en-US" sz="4800" dirty="0">
                <a:latin typeface="Aptos"/>
              </a:rPr>
              <a:t> </a:t>
            </a:r>
            <a:r>
              <a:rPr lang="en-US" sz="4800" err="1">
                <a:latin typeface="Aptos"/>
              </a:rPr>
              <a:t>kao</a:t>
            </a:r>
            <a:r>
              <a:rPr lang="en-US" sz="4800" dirty="0">
                <a:latin typeface="Aptos"/>
              </a:rPr>
              <a:t> </a:t>
            </a:r>
            <a:r>
              <a:rPr lang="en-US" sz="4800" err="1">
                <a:latin typeface="Aptos"/>
              </a:rPr>
              <a:t>korisnik</a:t>
            </a:r>
            <a:endParaRPr lang="en-US" sz="4800">
              <a:latin typeface="Aptos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22AC88-CE24-8B3D-8839-264A4B257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9" t="1" r="149" b="10318"/>
          <a:stretch>
            <a:fillRect/>
          </a:stretch>
        </p:blipFill>
        <p:spPr>
          <a:xfrm>
            <a:off x="1022430" y="183331"/>
            <a:ext cx="9708282" cy="474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42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E2281-5FE3-ACB1-3958-B468DB0F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36BFF0-F369-563C-79EF-23A88E69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C48D4B-7BC0-EAAF-CD60-76E35C472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6E3156F-1257-0A1A-B0FB-3EA34E28B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E31D3-5DD5-C82F-A988-44DC26BD2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800" dirty="0" err="1">
                <a:latin typeface="Aptos"/>
              </a:rPr>
              <a:t>Obrazac</a:t>
            </a:r>
            <a:r>
              <a:rPr lang="en-US" sz="4800" dirty="0">
                <a:latin typeface="Aptos"/>
              </a:rPr>
              <a:t> za </a:t>
            </a:r>
            <a:r>
              <a:rPr lang="en-US" sz="4800" dirty="0" err="1">
                <a:latin typeface="Aptos"/>
              </a:rPr>
              <a:t>prijavu</a:t>
            </a:r>
            <a:r>
              <a:rPr lang="en-US" sz="4800" dirty="0">
                <a:latin typeface="Aptos"/>
              </a:rPr>
              <a:t> termina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06D6F4-E7BA-DA1E-A2B8-2408A6FAA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403" y="0"/>
            <a:ext cx="7334244" cy="509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02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AD42-61B2-48EE-9C4C-42DE1B79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Proces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prijave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vozila</a:t>
            </a:r>
            <a:endParaRPr lang="en-US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35016-A079-DA85-E4BD-82494114A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417" y="1828800"/>
            <a:ext cx="4997795" cy="50394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Aptos"/>
              </a:rPr>
              <a:t>1.  </a:t>
            </a:r>
            <a:r>
              <a:rPr lang="en-US" sz="2200" b="1" err="1">
                <a:latin typeface="Aptos"/>
              </a:rPr>
              <a:t>Prijava</a:t>
            </a:r>
            <a:r>
              <a:rPr lang="en-US" sz="2200" b="1" dirty="0">
                <a:latin typeface="Aptos"/>
              </a:rPr>
              <a:t> </a:t>
            </a:r>
            <a:r>
              <a:rPr lang="en-US" sz="2200" b="1" err="1">
                <a:latin typeface="Aptos"/>
              </a:rPr>
              <a:t>korisnika</a:t>
            </a:r>
            <a:endParaRPr lang="en-US" sz="2200" b="1">
              <a:latin typeface="Aptos"/>
            </a:endParaRPr>
          </a:p>
          <a:p>
            <a:pPr marL="617220" lvl="1">
              <a:buFont typeface="Courier New"/>
              <a:buChar char="o"/>
            </a:pPr>
            <a:r>
              <a:rPr lang="en-US" sz="2000" spc="10" dirty="0">
                <a:solidFill>
                  <a:srgbClr val="000000"/>
                </a:solidFill>
                <a:latin typeface="Aptos"/>
              </a:rPr>
              <a:t>OAuth2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autentikacija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(Google)</a:t>
            </a:r>
            <a:endParaRPr lang="en-US" sz="2000" dirty="0">
              <a:solidFill>
                <a:srgbClr val="262626"/>
              </a:solidFill>
              <a:latin typeface="Aptos"/>
              <a:ea typeface="+mn-lt"/>
              <a:cs typeface="+mn-lt"/>
            </a:endParaRPr>
          </a:p>
          <a:p>
            <a:pPr marL="617220" lvl="1">
              <a:buFont typeface="Courier New"/>
              <a:buChar char="o"/>
            </a:pP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automatska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registracija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novog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korisnika</a:t>
            </a:r>
            <a:endParaRPr lang="en-US" sz="2000" dirty="0">
              <a:solidFill>
                <a:srgbClr val="262626"/>
              </a:solidFill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2.  </a:t>
            </a:r>
            <a:r>
              <a:rPr lang="en-US" sz="2200" b="1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Dodavanje</a:t>
            </a: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b="1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vozila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(</a:t>
            </a:r>
            <a:r>
              <a:rPr lang="en-US" sz="22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ako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još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nema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)</a:t>
            </a:r>
          </a:p>
          <a:p>
            <a:pPr marL="617220" lvl="1">
              <a:buFont typeface="Courier New"/>
              <a:buChar char="o"/>
            </a:pP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unos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marke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modela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registracije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godine</a:t>
            </a:r>
            <a:endParaRPr lang="en-US" sz="2000" spc="1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3.  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Rezervacija</a:t>
            </a: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zamjenskog</a:t>
            </a: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vozil</a:t>
            </a:r>
            <a:r>
              <a:rPr lang="en-US" sz="24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a</a:t>
            </a:r>
            <a:br>
              <a:rPr lang="en-US" sz="2400" b="1" dirty="0">
                <a:latin typeface="Aptos"/>
                <a:ea typeface="+mn-lt"/>
                <a:cs typeface="+mn-lt"/>
              </a:rPr>
            </a:br>
            <a:r>
              <a:rPr lang="en-US" sz="24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    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opcionalno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)</a:t>
            </a:r>
            <a:endParaRPr lang="en-US" sz="2000" b="1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4.   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Odabir</a:t>
            </a: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termina 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servisera</a:t>
            </a:r>
            <a:endParaRPr lang="en-US" sz="2200" dirty="0" err="1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617220" lvl="1" indent="-285750">
              <a:buFont typeface="Courier New,monospace"/>
              <a:buChar char="o"/>
            </a:pPr>
            <a:r>
              <a:rPr lang="en-US" sz="19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pregled</a:t>
            </a:r>
            <a:r>
              <a:rPr lang="en-US" sz="19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9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slobodnih</a:t>
            </a:r>
            <a:r>
              <a:rPr lang="en-US" sz="19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termina</a:t>
            </a:r>
          </a:p>
          <a:p>
            <a:pPr marL="617220" lvl="1" indent="-285750">
              <a:buFont typeface="Courier New,monospace"/>
              <a:buChar char="o"/>
            </a:pPr>
            <a:r>
              <a:rPr lang="en-US" sz="19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odabir</a:t>
            </a:r>
            <a:r>
              <a:rPr lang="en-US" sz="19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9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dostupnog</a:t>
            </a:r>
            <a:r>
              <a:rPr lang="en-US" sz="19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900" spc="1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servisera</a:t>
            </a:r>
            <a:endParaRPr lang="en-US" sz="1900" spc="1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endParaRPr lang="en-US" sz="2400" spc="1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en-US" sz="240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55CCD70-C59F-ECE8-CD23-B5B5C35F96C9}"/>
              </a:ext>
            </a:extLst>
          </p:cNvPr>
          <p:cNvSpPr txBox="1">
            <a:spLocks/>
          </p:cNvSpPr>
          <p:nvPr/>
        </p:nvSpPr>
        <p:spPr>
          <a:xfrm>
            <a:off x="6101726" y="1828800"/>
            <a:ext cx="4817687" cy="48778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5. </a:t>
            </a:r>
            <a:r>
              <a:rPr lang="en-US" sz="2200" b="1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Potvrda</a:t>
            </a: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b="1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prijave</a:t>
            </a:r>
            <a:endParaRPr lang="en-US" sz="2200" b="1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617220" lvl="1" indent="-285750">
              <a:buFont typeface="Courier New,monospace"/>
              <a:buChar char="o"/>
            </a:pP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OAuth2 </a:t>
            </a: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autentikacija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(Google)</a:t>
            </a:r>
          </a:p>
          <a:p>
            <a:pPr marL="617220" lvl="1" indent="-285750">
              <a:buFont typeface="Courier New,monospace"/>
              <a:buChar char="o"/>
            </a:pP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automatska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registracija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novog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korisnika</a:t>
            </a:r>
            <a:endParaRPr lang="en-US" sz="200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6.  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Praćenje</a:t>
            </a: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statusa</a:t>
            </a:r>
            <a:endParaRPr lang="en-US" sz="220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560070" lvl="1" indent="-285750">
              <a:buFont typeface="Courier New,monospace" pitchFamily="34" charset="0"/>
              <a:buChar char="o"/>
            </a:pPr>
            <a:r>
              <a:rPr lang="en-US" sz="2000" spc="1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zaprimljeno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→ u </a:t>
            </a:r>
            <a:r>
              <a:rPr lang="en-US" sz="2000" spc="1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obradi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→ </a:t>
            </a:r>
            <a:r>
              <a:rPr lang="en-US" sz="2000" spc="1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završeno</a:t>
            </a:r>
            <a:r>
              <a:rPr lang="en-US" sz="2000" spc="1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/</a:t>
            </a:r>
            <a:r>
              <a:rPr lang="en-US" sz="2000" spc="1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odgođeno</a:t>
            </a:r>
            <a:endParaRPr lang="en-US" sz="2000" spc="10">
              <a:solidFill>
                <a:srgbClr val="000000"/>
              </a:solidFill>
              <a:latin typeface="Aptos"/>
            </a:endParaRPr>
          </a:p>
          <a:p>
            <a:pPr marL="560070" lvl="1" indent="-285750">
              <a:buFont typeface="Courier New,monospace" pitchFamily="34" charset="0"/>
              <a:buChar char="o"/>
            </a:pPr>
            <a:r>
              <a:rPr lang="en-US" sz="20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generiranje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PDF </a:t>
            </a:r>
            <a:r>
              <a:rPr lang="en-US" sz="20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obrasca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pri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predaji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automobila</a:t>
            </a:r>
            <a:endParaRPr lang="en-US" sz="200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7.  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Preuzimanje</a:t>
            </a:r>
            <a:r>
              <a:rPr lang="en-US" sz="22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vozila</a:t>
            </a:r>
            <a:endParaRPr lang="en-US" sz="2200" b="1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617220" lvl="1" indent="-285750">
              <a:buFont typeface="Courier New,monospace"/>
              <a:buChar char="o"/>
            </a:pPr>
            <a:r>
              <a:rPr lang="en-US" sz="20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generiranje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PDF </a:t>
            </a:r>
            <a:r>
              <a:rPr lang="en-US" sz="20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obrasca</a:t>
            </a:r>
            <a:endParaRPr lang="en-US" sz="2000">
              <a:latin typeface="Aptos"/>
            </a:endParaRPr>
          </a:p>
          <a:p>
            <a:pPr marL="617220" lvl="1" indent="-285750">
              <a:buFont typeface="Courier New,monospace"/>
              <a:buChar char="o"/>
            </a:pP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potpis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korisnika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servisera</a:t>
            </a:r>
            <a:endParaRPr lang="en-US" sz="2000">
              <a:latin typeface="Aptos"/>
              <a:ea typeface="+mn-lt"/>
              <a:cs typeface="+mn-lt"/>
            </a:endParaRPr>
          </a:p>
        </p:txBody>
      </p:sp>
      <p:pic>
        <p:nvPicPr>
          <p:cNvPr id="12" name="Picture 11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243C1420-3479-8380-7F43-29F57BFC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821874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AAF5-3B15-C006-5661-F62A6203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Automatizacija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i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notifikacije</a:t>
            </a:r>
            <a:endParaRPr lang="en-US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B37B1-F8B7-F3D7-C226-D3E6C9368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697286" cy="43513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ptos"/>
                <a:ea typeface="+mn-lt"/>
                <a:cs typeface="+mn-lt"/>
              </a:rPr>
              <a:t>Email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notifikacije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✉️ </a:t>
            </a:r>
            <a:r>
              <a:rPr lang="en-US" dirty="0" err="1">
                <a:latin typeface="Aptos"/>
                <a:ea typeface="+mn-lt"/>
                <a:cs typeface="+mn-lt"/>
              </a:rPr>
              <a:t>potvrda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prijave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na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servis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✉️ </a:t>
            </a:r>
            <a:r>
              <a:rPr lang="en-US" dirty="0" err="1">
                <a:latin typeface="Aptos"/>
                <a:ea typeface="+mn-lt"/>
                <a:cs typeface="+mn-lt"/>
              </a:rPr>
              <a:t>predaja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automobila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✉️ </a:t>
            </a:r>
            <a:r>
              <a:rPr lang="en-US" dirty="0" err="1">
                <a:latin typeface="Aptos"/>
                <a:ea typeface="+mn-lt"/>
                <a:cs typeface="+mn-lt"/>
              </a:rPr>
              <a:t>podsjetnik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ako</a:t>
            </a:r>
            <a:r>
              <a:rPr lang="en-US" dirty="0">
                <a:latin typeface="Aptos"/>
                <a:ea typeface="+mn-lt"/>
                <a:cs typeface="+mn-lt"/>
              </a:rPr>
              <a:t> je </a:t>
            </a:r>
            <a:r>
              <a:rPr lang="en-US" dirty="0" err="1">
                <a:latin typeface="Aptos"/>
                <a:ea typeface="+mn-lt"/>
                <a:cs typeface="+mn-lt"/>
              </a:rPr>
              <a:t>termin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odgođen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br>
              <a:rPr lang="en-US" dirty="0">
                <a:latin typeface="Aptos"/>
                <a:ea typeface="+mn-lt"/>
                <a:cs typeface="+mn-lt"/>
              </a:rPr>
            </a:br>
            <a:r>
              <a:rPr lang="en-US" dirty="0">
                <a:latin typeface="Aptos"/>
                <a:ea typeface="+mn-lt"/>
                <a:cs typeface="+mn-lt"/>
              </a:rPr>
              <a:t>      &gt;3 dana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✉️ </a:t>
            </a:r>
            <a:r>
              <a:rPr lang="en-US" dirty="0" err="1">
                <a:latin typeface="Aptos"/>
                <a:ea typeface="+mn-lt"/>
                <a:cs typeface="+mn-lt"/>
              </a:rPr>
              <a:t>obavijest</a:t>
            </a:r>
            <a:r>
              <a:rPr lang="en-US" dirty="0">
                <a:latin typeface="Aptos"/>
                <a:ea typeface="+mn-lt"/>
                <a:cs typeface="+mn-lt"/>
              </a:rPr>
              <a:t> o </a:t>
            </a:r>
            <a:r>
              <a:rPr lang="en-US" dirty="0" err="1">
                <a:latin typeface="Aptos"/>
                <a:ea typeface="+mn-lt"/>
                <a:cs typeface="+mn-lt"/>
              </a:rPr>
              <a:t>završetku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servisa</a:t>
            </a:r>
            <a:endParaRPr lang="en-US" dirty="0">
              <a:latin typeface="Aptos"/>
            </a:endParaRPr>
          </a:p>
          <a:p>
            <a:pPr marL="0" indent="0">
              <a:spcBef>
                <a:spcPts val="2600"/>
              </a:spcBef>
              <a:buNone/>
            </a:pPr>
            <a:r>
              <a:rPr lang="en-US" sz="2000" b="1" err="1">
                <a:latin typeface="Aptos"/>
                <a:ea typeface="+mn-lt"/>
                <a:cs typeface="+mn-lt"/>
              </a:rPr>
              <a:t>Generiranje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err="1">
                <a:latin typeface="Aptos"/>
                <a:ea typeface="+mn-lt"/>
                <a:cs typeface="+mn-lt"/>
              </a:rPr>
              <a:t>dokumenata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📄 PDF </a:t>
            </a:r>
            <a:r>
              <a:rPr lang="en-US" dirty="0" err="1">
                <a:latin typeface="Aptos"/>
                <a:ea typeface="+mn-lt"/>
                <a:cs typeface="+mn-lt"/>
              </a:rPr>
              <a:t>obrazac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pri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predaji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vozila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📄 PDF </a:t>
            </a:r>
            <a:r>
              <a:rPr lang="en-US" dirty="0" err="1">
                <a:latin typeface="Aptos"/>
                <a:ea typeface="+mn-lt"/>
                <a:cs typeface="+mn-lt"/>
              </a:rPr>
              <a:t>obrazac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pri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preuzimanju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vozila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📊 PDF/XML/XLSX </a:t>
            </a:r>
            <a:r>
              <a:rPr lang="en-US" dirty="0" err="1">
                <a:latin typeface="Aptos"/>
                <a:ea typeface="+mn-lt"/>
                <a:cs typeface="+mn-lt"/>
              </a:rPr>
              <a:t>izvještaji</a:t>
            </a:r>
            <a:r>
              <a:rPr lang="en-US" dirty="0">
                <a:latin typeface="Aptos"/>
                <a:ea typeface="+mn-lt"/>
                <a:cs typeface="+mn-lt"/>
              </a:rPr>
              <a:t> za </a:t>
            </a:r>
            <a:r>
              <a:rPr lang="en-US" dirty="0" err="1">
                <a:latin typeface="Aptos"/>
                <a:ea typeface="+mn-lt"/>
                <a:cs typeface="+mn-lt"/>
              </a:rPr>
              <a:t>administratora</a:t>
            </a:r>
            <a:endParaRPr lang="en-US" dirty="0">
              <a:latin typeface="Aptos"/>
            </a:endParaRPr>
          </a:p>
          <a:p>
            <a:endParaRPr lang="en-US" dirty="0"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57EFE-3BBF-F6E4-E131-FF6AC6F96E27}"/>
              </a:ext>
            </a:extLst>
          </p:cNvPr>
          <p:cNvSpPr txBox="1"/>
          <p:nvPr/>
        </p:nvSpPr>
        <p:spPr>
          <a:xfrm>
            <a:off x="6211455" y="1826491"/>
            <a:ext cx="4858327" cy="30767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000" b="1" i="0" u="none" strike="noStrike" baseline="0" err="1">
                <a:solidFill>
                  <a:srgbClr val="000000"/>
                </a:solidFill>
                <a:latin typeface="Aptos"/>
              </a:rPr>
              <a:t>Evidencija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</a:rPr>
              <a:t>:</a:t>
            </a:r>
            <a:r>
              <a:rPr lang="en-US" sz="2000" b="0" i="0" dirty="0">
                <a:latin typeface="Aptos"/>
              </a:rPr>
              <a:t>​</a:t>
            </a: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Aptos"/>
              </a:rPr>
              <a:t>✅ </a:t>
            </a:r>
            <a:r>
              <a:rPr lang="en-US" dirty="0" err="1">
                <a:latin typeface="Aptos"/>
                <a:ea typeface="+mn-lt"/>
                <a:cs typeface="+mn-lt"/>
              </a:rPr>
              <a:t>a</a:t>
            </a:r>
            <a:r>
              <a:rPr lang="en-US" spc="10" dirty="0" err="1">
                <a:latin typeface="Aptos"/>
                <a:ea typeface="+mn-lt"/>
                <a:cs typeface="+mn-lt"/>
              </a:rPr>
              <a:t>utomatsko</a:t>
            </a:r>
            <a:r>
              <a:rPr lang="en-US" spc="10" dirty="0">
                <a:latin typeface="Aptos"/>
                <a:ea typeface="+mn-lt"/>
                <a:cs typeface="+mn-lt"/>
              </a:rPr>
              <a:t> </a:t>
            </a:r>
            <a:r>
              <a:rPr lang="en-US" spc="10" dirty="0" err="1">
                <a:latin typeface="Aptos"/>
                <a:ea typeface="+mn-lt"/>
                <a:cs typeface="+mn-lt"/>
              </a:rPr>
              <a:t>označavanje</a:t>
            </a:r>
            <a:br>
              <a:rPr lang="en-US" spc="10" dirty="0">
                <a:latin typeface="Aptos"/>
                <a:ea typeface="+mn-lt"/>
                <a:cs typeface="+mn-lt"/>
              </a:rPr>
            </a:br>
            <a:r>
              <a:rPr lang="en-US" spc="10" dirty="0">
                <a:latin typeface="Aptos"/>
                <a:ea typeface="+mn-lt"/>
                <a:cs typeface="+mn-lt"/>
              </a:rPr>
              <a:t>     </a:t>
            </a:r>
            <a:r>
              <a:rPr lang="en-US" spc="10" dirty="0" err="1">
                <a:latin typeface="Aptos"/>
                <a:ea typeface="+mn-lt"/>
                <a:cs typeface="+mn-lt"/>
              </a:rPr>
              <a:t>zauzet</a:t>
            </a:r>
            <a:r>
              <a:rPr lang="en-US" spc="10" dirty="0">
                <a:latin typeface="Aptos"/>
                <a:ea typeface="+mn-lt"/>
                <a:cs typeface="+mn-lt"/>
              </a:rPr>
              <a:t>/</a:t>
            </a:r>
            <a:r>
              <a:rPr lang="en-US" spc="10" dirty="0" err="1">
                <a:latin typeface="Aptos"/>
                <a:ea typeface="+mn-lt"/>
                <a:cs typeface="+mn-lt"/>
              </a:rPr>
              <a:t>slobodan</a:t>
            </a:r>
            <a:r>
              <a:rPr lang="en-US" spc="10" dirty="0">
                <a:latin typeface="Aptos"/>
                <a:ea typeface="+mn-lt"/>
                <a:cs typeface="+mn-lt"/>
              </a:rPr>
              <a:t> </a:t>
            </a:r>
            <a:r>
              <a:rPr lang="en-US" spc="10" dirty="0" err="1">
                <a:latin typeface="Aptos"/>
                <a:ea typeface="+mn-lt"/>
                <a:cs typeface="+mn-lt"/>
              </a:rPr>
              <a:t>termin</a:t>
            </a:r>
            <a:r>
              <a:rPr lang="en-US" spc="10" dirty="0">
                <a:latin typeface="Aptos"/>
                <a:ea typeface="+mn-lt"/>
                <a:cs typeface="+mn-lt"/>
              </a:rPr>
              <a:t>​</a:t>
            </a: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pc="10" dirty="0">
                <a:latin typeface="Aptos"/>
                <a:ea typeface="+mn-lt"/>
                <a:cs typeface="+mn-lt"/>
              </a:rPr>
              <a:t>✅ status </a:t>
            </a:r>
            <a:r>
              <a:rPr lang="en-US" spc="10" dirty="0" err="1">
                <a:latin typeface="Aptos"/>
                <a:ea typeface="+mn-lt"/>
                <a:cs typeface="+mn-lt"/>
              </a:rPr>
              <a:t>vozila</a:t>
            </a:r>
            <a:r>
              <a:rPr lang="en-US" spc="10" dirty="0">
                <a:latin typeface="Aptos"/>
                <a:ea typeface="+mn-lt"/>
                <a:cs typeface="+mn-lt"/>
              </a:rPr>
              <a:t> u </a:t>
            </a:r>
            <a:r>
              <a:rPr lang="en-US" spc="10" dirty="0" err="1">
                <a:latin typeface="Aptos"/>
                <a:ea typeface="+mn-lt"/>
                <a:cs typeface="+mn-lt"/>
              </a:rPr>
              <a:t>obradi</a:t>
            </a:r>
            <a:r>
              <a:rPr lang="en-US" spc="10" dirty="0">
                <a:latin typeface="Aptos"/>
                <a:ea typeface="+mn-lt"/>
                <a:cs typeface="+mn-lt"/>
              </a:rPr>
              <a:t>​</a:t>
            </a: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pc="10" dirty="0">
                <a:latin typeface="Aptos"/>
                <a:ea typeface="+mn-lt"/>
                <a:cs typeface="+mn-lt"/>
              </a:rPr>
              <a:t>✅ </a:t>
            </a:r>
            <a:r>
              <a:rPr lang="en-US" spc="10" dirty="0" err="1">
                <a:latin typeface="Aptos"/>
                <a:ea typeface="+mn-lt"/>
                <a:cs typeface="+mn-lt"/>
              </a:rPr>
              <a:t>povijest</a:t>
            </a:r>
            <a:r>
              <a:rPr lang="en-US" spc="10" dirty="0">
                <a:latin typeface="Aptos"/>
                <a:ea typeface="+mn-lt"/>
                <a:cs typeface="+mn-lt"/>
              </a:rPr>
              <a:t> </a:t>
            </a:r>
            <a:r>
              <a:rPr lang="en-US" spc="10" dirty="0" err="1">
                <a:latin typeface="Aptos"/>
                <a:ea typeface="+mn-lt"/>
                <a:cs typeface="+mn-lt"/>
              </a:rPr>
              <a:t>svih</a:t>
            </a:r>
            <a:r>
              <a:rPr lang="en-US" spc="10" dirty="0">
                <a:latin typeface="Aptos"/>
                <a:ea typeface="+mn-lt"/>
                <a:cs typeface="+mn-lt"/>
              </a:rPr>
              <a:t> </a:t>
            </a:r>
            <a:r>
              <a:rPr lang="en-US" spc="10" dirty="0" err="1">
                <a:latin typeface="Aptos"/>
                <a:ea typeface="+mn-lt"/>
                <a:cs typeface="+mn-lt"/>
              </a:rPr>
              <a:t>servisa</a:t>
            </a:r>
            <a:r>
              <a:rPr lang="en-US" spc="10" dirty="0">
                <a:latin typeface="Aptos"/>
                <a:ea typeface="+mn-lt"/>
                <a:cs typeface="+mn-lt"/>
              </a:rPr>
              <a:t>​</a:t>
            </a: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pc="10" dirty="0">
                <a:latin typeface="Aptos"/>
                <a:ea typeface="+mn-lt"/>
                <a:cs typeface="+mn-lt"/>
              </a:rPr>
              <a:t>✅ </a:t>
            </a:r>
            <a:r>
              <a:rPr lang="en-US" spc="10" dirty="0" err="1">
                <a:latin typeface="Aptos"/>
                <a:ea typeface="+mn-lt"/>
                <a:cs typeface="+mn-lt"/>
              </a:rPr>
              <a:t>praćenje</a:t>
            </a:r>
            <a:r>
              <a:rPr lang="en-US" spc="10" dirty="0">
                <a:latin typeface="Aptos"/>
                <a:ea typeface="+mn-lt"/>
                <a:cs typeface="+mn-lt"/>
              </a:rPr>
              <a:t> </a:t>
            </a:r>
            <a:r>
              <a:rPr lang="en-US" spc="10" dirty="0" err="1">
                <a:latin typeface="Aptos"/>
                <a:ea typeface="+mn-lt"/>
                <a:cs typeface="+mn-lt"/>
              </a:rPr>
              <a:t>d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Aptos"/>
              </a:rPr>
              <a:t>ostupnosti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"/>
              </a:rPr>
              <a:t>zamjenskih</a:t>
            </a:r>
            <a:br>
              <a:rPr lang="en-US" dirty="0">
                <a:solidFill>
                  <a:srgbClr val="000000"/>
                </a:solidFill>
                <a:latin typeface="Aptos"/>
              </a:rPr>
            </a:br>
            <a:r>
              <a:rPr lang="en-US" dirty="0">
                <a:solidFill>
                  <a:srgbClr val="000000"/>
                </a:solidFill>
                <a:latin typeface="Aptos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Aptos"/>
              </a:rPr>
              <a:t>vozila</a:t>
            </a:r>
            <a:endParaRPr lang="en-US" b="0" i="0" u="none" strike="noStrike" baseline="0">
              <a:solidFill>
                <a:srgbClr val="000000"/>
              </a:solidFill>
              <a:latin typeface="Aptos"/>
            </a:endParaRPr>
          </a:p>
          <a:p>
            <a:pPr algn="ctr"/>
            <a:endParaRPr lang="en-US" dirty="0">
              <a:latin typeface="Aptos"/>
            </a:endParaRPr>
          </a:p>
        </p:txBody>
      </p:sp>
      <p:pic>
        <p:nvPicPr>
          <p:cNvPr id="6" name="Picture 5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720A4370-3EDE-0E90-4715-11531E65B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72662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BF681-A341-248B-98DB-F3565155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CDD79F8-5A30-DC7D-B530-A4CD22080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AB4B49-3B90-CCCE-DA1C-317B5659A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2DCEFD6-EFDE-A68E-7313-E4FCC237C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09BE4-0B9F-0BDF-F20B-A3EC96463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err="1">
                <a:latin typeface="Aptos"/>
                <a:ea typeface="+mj-lt"/>
                <a:cs typeface="+mj-lt"/>
              </a:rPr>
              <a:t>Automatizirani</a:t>
            </a:r>
            <a:r>
              <a:rPr lang="en-US" sz="4000" dirty="0">
                <a:latin typeface="Aptos"/>
                <a:ea typeface="+mj-lt"/>
                <a:cs typeface="+mj-lt"/>
              </a:rPr>
              <a:t> mail za </a:t>
            </a:r>
            <a:r>
              <a:rPr lang="en-US" sz="4000" err="1">
                <a:latin typeface="Aptos"/>
                <a:ea typeface="+mj-lt"/>
                <a:cs typeface="+mj-lt"/>
              </a:rPr>
              <a:t>potvrdu</a:t>
            </a:r>
            <a:r>
              <a:rPr lang="en-US" sz="4000" dirty="0">
                <a:latin typeface="Aptos"/>
                <a:ea typeface="+mj-lt"/>
                <a:cs typeface="+mj-lt"/>
              </a:rPr>
              <a:t> </a:t>
            </a:r>
            <a:r>
              <a:rPr lang="en-US" sz="4000" err="1">
                <a:latin typeface="Aptos"/>
                <a:ea typeface="+mj-lt"/>
                <a:cs typeface="+mj-lt"/>
              </a:rPr>
              <a:t>prijave</a:t>
            </a:r>
            <a:r>
              <a:rPr lang="en-US" sz="4000" dirty="0">
                <a:latin typeface="Aptos"/>
                <a:ea typeface="+mj-lt"/>
                <a:cs typeface="+mj-lt"/>
              </a:rPr>
              <a:t> </a:t>
            </a:r>
            <a:r>
              <a:rPr lang="en-US" sz="4000" err="1">
                <a:latin typeface="Aptos"/>
                <a:ea typeface="+mj-lt"/>
                <a:cs typeface="+mj-lt"/>
              </a:rPr>
              <a:t>servisa</a:t>
            </a:r>
            <a:r>
              <a:rPr lang="en-US" sz="4000" dirty="0">
                <a:latin typeface="Aptos"/>
                <a:ea typeface="+mj-lt"/>
                <a:cs typeface="+mj-lt"/>
              </a:rPr>
              <a:t> </a:t>
            </a:r>
            <a:endParaRPr lang="en-US" sz="4000">
              <a:latin typeface="Aptos"/>
            </a:endParaRPr>
          </a:p>
        </p:txBody>
      </p:sp>
      <p:pic>
        <p:nvPicPr>
          <p:cNvPr id="5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A850A3-40DA-1573-2087-7D9AF9323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602" y="378691"/>
            <a:ext cx="7231971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C8F5-DC5B-9A7F-03B1-4DA2F0F5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/>
              </a:rPr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6FD3-F719-7BE8-F5D0-64021C2D0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Aptos"/>
                <a:ea typeface="+mn-lt"/>
                <a:cs typeface="+mn-lt"/>
              </a:rPr>
              <a:t>Ispitivanje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komponenti</a:t>
            </a:r>
            <a:r>
              <a:rPr lang="en-US" sz="2000" b="1" dirty="0">
                <a:latin typeface="Aptos"/>
                <a:ea typeface="+mn-lt"/>
                <a:cs typeface="+mn-lt"/>
              </a:rPr>
              <a:t> (JUnit 5 + Spring Boot Test):</a:t>
            </a:r>
            <a:endParaRPr lang="en-US" sz="2000" dirty="0">
              <a:latin typeface="Aptos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11 </a:t>
            </a:r>
            <a:r>
              <a:rPr lang="en-US" sz="2000" err="1">
                <a:latin typeface="Aptos"/>
                <a:ea typeface="+mn-lt"/>
                <a:cs typeface="+mn-lt"/>
              </a:rPr>
              <a:t>testova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latin typeface="Aptos"/>
                <a:ea typeface="+mn-lt"/>
                <a:cs typeface="+mn-lt"/>
              </a:rPr>
              <a:t>komponenti</a:t>
            </a:r>
            <a:endParaRPr lang="en-US" sz="2000">
              <a:latin typeface="Aptos"/>
              <a:ea typeface="+mn-lt"/>
              <a:cs typeface="+mn-lt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11/11 </a:t>
            </a:r>
            <a:r>
              <a:rPr lang="en-US" sz="2000" err="1">
                <a:latin typeface="Aptos"/>
                <a:ea typeface="+mn-lt"/>
                <a:cs typeface="+mn-lt"/>
              </a:rPr>
              <a:t>prošlo</a:t>
            </a:r>
            <a:r>
              <a:rPr lang="en-US" sz="2000" dirty="0">
                <a:latin typeface="Aptos"/>
                <a:ea typeface="+mn-lt"/>
                <a:cs typeface="+mn-lt"/>
              </a:rPr>
              <a:t> (100%)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sz="2000" dirty="0" err="1">
                <a:latin typeface="Aptos"/>
                <a:ea typeface="+mn-lt"/>
                <a:cs typeface="+mn-lt"/>
              </a:rPr>
              <a:t>Testovi</a:t>
            </a:r>
            <a:r>
              <a:rPr lang="en-US" sz="2000" dirty="0">
                <a:latin typeface="Aptos"/>
                <a:ea typeface="+mn-lt"/>
                <a:cs typeface="+mn-lt"/>
              </a:rPr>
              <a:t>: </a:t>
            </a:r>
            <a:r>
              <a:rPr lang="en-US" sz="2000" dirty="0" err="1">
                <a:latin typeface="Aptos"/>
                <a:ea typeface="+mn-lt"/>
                <a:cs typeface="+mn-lt"/>
              </a:rPr>
              <a:t>PrijavaServisa</a:t>
            </a:r>
            <a:r>
              <a:rPr lang="en-US" sz="2000" dirty="0">
                <a:latin typeface="Aptos"/>
                <a:ea typeface="+mn-lt"/>
                <a:cs typeface="+mn-lt"/>
              </a:rPr>
              <a:t> + Termin </a:t>
            </a:r>
            <a:r>
              <a:rPr lang="en-US" sz="2000" dirty="0" err="1">
                <a:latin typeface="Aptos"/>
                <a:ea typeface="+mn-lt"/>
                <a:cs typeface="+mn-lt"/>
              </a:rPr>
              <a:t>servisi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r>
              <a:rPr lang="en-US" sz="2000" b="1" dirty="0" err="1">
                <a:latin typeface="Aptos"/>
                <a:ea typeface="+mn-lt"/>
                <a:cs typeface="+mn-lt"/>
              </a:rPr>
              <a:t>Ispitivanje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sustava</a:t>
            </a:r>
            <a:r>
              <a:rPr lang="en-US" sz="2000" b="1" dirty="0">
                <a:latin typeface="Aptos"/>
                <a:ea typeface="+mn-lt"/>
                <a:cs typeface="+mn-lt"/>
              </a:rPr>
              <a:t> (Selenium WebDriver):</a:t>
            </a:r>
            <a:endParaRPr lang="en-US" sz="2000" dirty="0">
              <a:latin typeface="Aptos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5 </a:t>
            </a:r>
            <a:r>
              <a:rPr lang="en-US" sz="2000" err="1">
                <a:latin typeface="Aptos"/>
                <a:ea typeface="+mn-lt"/>
                <a:cs typeface="+mn-lt"/>
              </a:rPr>
              <a:t>testova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latin typeface="Aptos"/>
                <a:ea typeface="+mn-lt"/>
                <a:cs typeface="+mn-lt"/>
              </a:rPr>
              <a:t>sustava</a:t>
            </a:r>
            <a:endParaRPr lang="en-US" sz="2000" err="1">
              <a:latin typeface="Aptos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5/5 </a:t>
            </a:r>
            <a:r>
              <a:rPr lang="en-US" sz="2000" err="1">
                <a:latin typeface="Aptos"/>
                <a:ea typeface="+mn-lt"/>
                <a:cs typeface="+mn-lt"/>
              </a:rPr>
              <a:t>prošlo</a:t>
            </a:r>
            <a:r>
              <a:rPr lang="en-US" sz="2000" dirty="0">
                <a:latin typeface="Aptos"/>
                <a:ea typeface="+mn-lt"/>
                <a:cs typeface="+mn-lt"/>
              </a:rPr>
              <a:t> (100%)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r>
              <a:rPr lang="en-US" sz="2000" dirty="0" err="1">
                <a:latin typeface="Aptos"/>
                <a:ea typeface="+mn-lt"/>
                <a:cs typeface="+mn-lt"/>
              </a:rPr>
              <a:t>Automatski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screenshotovi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svih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koraka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r>
              <a:rPr lang="en-US" sz="2000" b="1" dirty="0" err="1">
                <a:latin typeface="Aptos"/>
                <a:ea typeface="+mn-lt"/>
                <a:cs typeface="+mn-lt"/>
              </a:rPr>
              <a:t>Ukupno</a:t>
            </a:r>
            <a:r>
              <a:rPr lang="en-US" sz="2000" b="1" dirty="0">
                <a:latin typeface="Aptos"/>
                <a:ea typeface="+mn-lt"/>
                <a:cs typeface="+mn-lt"/>
              </a:rPr>
              <a:t>: 16/16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testova</a:t>
            </a:r>
            <a:r>
              <a:rPr lang="en-US" sz="2000" b="1" dirty="0">
                <a:latin typeface="Aptos"/>
                <a:ea typeface="+mn-lt"/>
                <a:cs typeface="+mn-lt"/>
              </a:rPr>
              <a:t> (100%)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endParaRPr lang="en-US" sz="2000" dirty="0"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7D8C2-153F-B25C-61C8-B75C906FB8D9}"/>
              </a:ext>
            </a:extLst>
          </p:cNvPr>
          <p:cNvSpPr txBox="1"/>
          <p:nvPr/>
        </p:nvSpPr>
        <p:spPr>
          <a:xfrm>
            <a:off x="7476837" y="3867728"/>
            <a:ext cx="4715164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latin typeface="Aptos"/>
              </a:rPr>
              <a:t>Tehnologije</a:t>
            </a:r>
            <a:r>
              <a:rPr lang="en-US" sz="2000" b="1" dirty="0">
                <a:latin typeface="Aptos"/>
              </a:rPr>
              <a:t> </a:t>
            </a:r>
            <a:r>
              <a:rPr lang="en-US" sz="2000" b="1" dirty="0" err="1">
                <a:latin typeface="Aptos"/>
              </a:rPr>
              <a:t>testiranja</a:t>
            </a:r>
            <a:r>
              <a:rPr lang="en-US" sz="2000" b="1" dirty="0">
                <a:latin typeface="Aptos"/>
              </a:rPr>
              <a:t>: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JUnit 5, Mockito 5.12.0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Selenium 4.19.1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H2 in-memory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baza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br>
              <a:rPr lang="en-US" dirty="0">
                <a:latin typeface="Aptos"/>
              </a:rPr>
            </a:br>
            <a:r>
              <a:rPr lang="en-US" sz="2000" spc="10" dirty="0">
                <a:latin typeface="Aptos"/>
                <a:ea typeface="+mn-lt"/>
                <a:cs typeface="+mn-lt"/>
              </a:rPr>
              <a:t>(PostgreSQL mode)</a:t>
            </a:r>
          </a:p>
          <a:p>
            <a:pPr algn="ctr"/>
            <a:endParaRPr lang="en-US">
              <a:latin typeface="Aptos"/>
            </a:endParaRPr>
          </a:p>
        </p:txBody>
      </p:sp>
      <p:pic>
        <p:nvPicPr>
          <p:cNvPr id="6" name="Picture 5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A9B7B4AB-2903-F3D9-825F-FBD164426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68227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FED08-1734-683E-4F64-5A2565B4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  <a:ea typeface="+mj-lt"/>
                <a:cs typeface="+mj-lt"/>
              </a:rPr>
              <a:t>Deployment </a:t>
            </a:r>
            <a:r>
              <a:rPr lang="en-US" dirty="0" err="1">
                <a:latin typeface="Aptos"/>
                <a:ea typeface="+mj-lt"/>
                <a:cs typeface="+mj-lt"/>
              </a:rPr>
              <a:t>i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pristup</a:t>
            </a:r>
            <a:endParaRPr lang="en-US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21BB-1779-DC3D-F784-9FA0EFB62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🌐 </a:t>
            </a:r>
            <a:r>
              <a:rPr lang="en-US" sz="2000" b="1" dirty="0">
                <a:latin typeface="Aptos"/>
                <a:ea typeface="+mn-lt"/>
                <a:cs typeface="+mn-lt"/>
              </a:rPr>
              <a:t>URL: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>
                <a:latin typeface="Aptos"/>
                <a:ea typeface="+mn-lt"/>
                <a:cs typeface="+mn-lt"/>
                <a:hlinkClick r:id="rId2"/>
              </a:rPr>
              <a:t>https://autoservis-frontend.onrender.com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☁️ </a:t>
            </a:r>
            <a:r>
              <a:rPr lang="en-US" sz="2000" b="1" err="1">
                <a:latin typeface="Aptos"/>
                <a:ea typeface="+mn-lt"/>
                <a:cs typeface="+mn-lt"/>
              </a:rPr>
              <a:t>Platforma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r>
              <a:rPr lang="en-US" sz="2000" dirty="0">
                <a:latin typeface="Aptos"/>
                <a:ea typeface="+mn-lt"/>
                <a:cs typeface="+mn-lt"/>
              </a:rPr>
              <a:t> Render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r>
              <a:rPr lang="en-US" sz="2000" b="1" dirty="0">
                <a:latin typeface="Aptos"/>
                <a:ea typeface="+mn-lt"/>
                <a:cs typeface="+mn-lt"/>
              </a:rPr>
              <a:t>Deploy: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automatski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iz</a:t>
            </a:r>
            <a:r>
              <a:rPr lang="en-US" sz="2000" dirty="0">
                <a:latin typeface="Aptos"/>
                <a:ea typeface="+mn-lt"/>
                <a:cs typeface="+mn-lt"/>
              </a:rPr>
              <a:t> GitHub </a:t>
            </a:r>
            <a:r>
              <a:rPr lang="en-US" sz="2000" dirty="0" err="1">
                <a:latin typeface="Aptos"/>
                <a:ea typeface="+mn-lt"/>
                <a:cs typeface="+mn-lt"/>
              </a:rPr>
              <a:t>repozitorija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endParaRPr lang="en-US" sz="2000" dirty="0">
              <a:latin typeface="Aptos"/>
              <a:ea typeface="+mn-lt"/>
              <a:cs typeface="+mn-lt"/>
            </a:endParaRPr>
          </a:p>
          <a:p>
            <a:pPr>
              <a:buNone/>
            </a:pPr>
            <a:r>
              <a:rPr lang="en-US" sz="2000" b="1" dirty="0" err="1">
                <a:latin typeface="Aptos"/>
                <a:ea typeface="+mn-lt"/>
                <a:cs typeface="+mn-lt"/>
              </a:rPr>
              <a:t>Lokalni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razvoj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 dirty="0">
              <a:latin typeface="Apto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latin typeface="Aptos"/>
                <a:ea typeface="+mn-lt"/>
                <a:cs typeface="+mn-lt"/>
              </a:rPr>
              <a:t>Docker </a:t>
            </a:r>
            <a:r>
              <a:rPr lang="en-US" sz="2000" dirty="0" err="1">
                <a:latin typeface="Aptos"/>
                <a:ea typeface="+mn-lt"/>
                <a:cs typeface="+mn-lt"/>
              </a:rPr>
              <a:t>podrška</a:t>
            </a:r>
            <a:endParaRPr lang="en-US" sz="2000" dirty="0" err="1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2000" dirty="0">
                <a:latin typeface="Aptos"/>
                <a:ea typeface="+mn-lt"/>
                <a:cs typeface="+mn-lt"/>
              </a:rPr>
              <a:t>Maven + </a:t>
            </a:r>
            <a:r>
              <a:rPr lang="en-US" sz="2000" dirty="0" err="1">
                <a:latin typeface="Aptos"/>
                <a:ea typeface="+mn-lt"/>
                <a:cs typeface="+mn-lt"/>
              </a:rPr>
              <a:t>npm</a:t>
            </a:r>
            <a:r>
              <a:rPr lang="en-US" sz="2000" dirty="0">
                <a:latin typeface="Aptos"/>
                <a:ea typeface="+mn-lt"/>
                <a:cs typeface="+mn-lt"/>
              </a:rPr>
              <a:t> build </a:t>
            </a:r>
            <a:r>
              <a:rPr lang="en-US" sz="2000" dirty="0" err="1">
                <a:latin typeface="Aptos"/>
                <a:ea typeface="+mn-lt"/>
                <a:cs typeface="+mn-lt"/>
              </a:rPr>
              <a:t>sistemi</a:t>
            </a:r>
            <a:endParaRPr lang="en-US" sz="2000" dirty="0" err="1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2000" dirty="0">
                <a:latin typeface="Aptos"/>
                <a:ea typeface="+mn-lt"/>
                <a:cs typeface="+mn-lt"/>
              </a:rPr>
              <a:t>PostgreSQL </a:t>
            </a:r>
            <a:r>
              <a:rPr lang="en-US" sz="2000" dirty="0" err="1">
                <a:latin typeface="Aptos"/>
                <a:ea typeface="+mn-lt"/>
                <a:cs typeface="+mn-lt"/>
              </a:rPr>
              <a:t>baza</a:t>
            </a:r>
            <a:endParaRPr lang="en-US" sz="2000" dirty="0" err="1">
              <a:latin typeface="Aptos"/>
            </a:endParaRPr>
          </a:p>
          <a:p>
            <a:endParaRPr lang="en-US" sz="2000" dirty="0"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5AD81-C94C-E7FA-1B76-446A83177DF3}"/>
              </a:ext>
            </a:extLst>
          </p:cNvPr>
          <p:cNvSpPr txBox="1"/>
          <p:nvPr/>
        </p:nvSpPr>
        <p:spPr>
          <a:xfrm>
            <a:off x="5213927" y="3747656"/>
            <a:ext cx="5334000" cy="26981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latin typeface="Aptos"/>
              </a:rPr>
              <a:t>Sigurnost</a:t>
            </a:r>
            <a:r>
              <a:rPr lang="en-US" sz="2000" b="1" dirty="0">
                <a:latin typeface="Aptos"/>
              </a:rPr>
              <a:t>: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HTTPS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komunikacija</a:t>
            </a:r>
            <a:endParaRPr lang="en-US" sz="2000" spc="10" dirty="0">
              <a:latin typeface="Aptos"/>
              <a:ea typeface="+mn-lt"/>
              <a:cs typeface="+mn-lt"/>
            </a:endParaRP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OAuth2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autentikacija</a:t>
            </a:r>
            <a:endParaRPr lang="en-US" sz="2000" spc="10" dirty="0">
              <a:latin typeface="Aptos"/>
              <a:ea typeface="+mn-lt"/>
              <a:cs typeface="+mn-lt"/>
            </a:endParaRP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JWT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tokeni</a:t>
            </a:r>
            <a:endParaRPr lang="en-US" sz="2000" spc="10" dirty="0">
              <a:latin typeface="Aptos"/>
              <a:ea typeface="+mn-lt"/>
              <a:cs typeface="+mn-lt"/>
            </a:endParaRP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environment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varijable</a:t>
            </a:r>
            <a:r>
              <a:rPr lang="en-US" sz="2000" spc="10" dirty="0">
                <a:latin typeface="Aptos"/>
                <a:ea typeface="+mn-lt"/>
                <a:cs typeface="+mn-lt"/>
              </a:rPr>
              <a:t> za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osjetljive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podatke</a:t>
            </a:r>
            <a:endParaRPr lang="en-US" sz="2000" spc="10" dirty="0">
              <a:latin typeface="Aptos"/>
              <a:ea typeface="+mn-lt"/>
              <a:cs typeface="+mn-lt"/>
            </a:endParaRPr>
          </a:p>
          <a:p>
            <a:pPr algn="ctr"/>
            <a:endParaRPr lang="en-US" sz="2000">
              <a:latin typeface="Aptos"/>
            </a:endParaRPr>
          </a:p>
        </p:txBody>
      </p:sp>
      <p:pic>
        <p:nvPicPr>
          <p:cNvPr id="6" name="Picture 5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5F47F8AF-60AF-89F3-5716-824E1409E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81212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472FA-5F93-99E0-9AB9-7BD2265C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Izazovi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i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rješenja</a:t>
            </a:r>
            <a:endParaRPr lang="en-US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2B3A2-B641-0520-6C3B-65A2731E5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591397" cy="48316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Aptos"/>
                <a:ea typeface="+mn-lt"/>
                <a:cs typeface="+mn-lt"/>
              </a:rPr>
              <a:t>Integracija</a:t>
            </a:r>
            <a:r>
              <a:rPr lang="en-US" sz="2000" b="1" dirty="0">
                <a:latin typeface="Aptos"/>
                <a:ea typeface="+mn-lt"/>
                <a:cs typeface="+mn-lt"/>
              </a:rPr>
              <a:t> OAuth2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endParaRPr lang="en-US" sz="2000" dirty="0">
              <a:latin typeface="Aptos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problem: </a:t>
            </a:r>
            <a:r>
              <a:rPr lang="en-US" sz="2000" dirty="0" err="1">
                <a:latin typeface="Aptos"/>
                <a:ea typeface="+mn-lt"/>
                <a:cs typeface="+mn-lt"/>
              </a:rPr>
              <a:t>Sinkronizacija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korisničkih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podataka</a:t>
            </a:r>
            <a:endParaRPr lang="en-US" sz="2000" dirty="0" err="1">
              <a:latin typeface="Aptos"/>
            </a:endParaRPr>
          </a:p>
          <a:p>
            <a:r>
              <a:rPr lang="en-US" sz="2000" dirty="0" err="1">
                <a:latin typeface="Aptos"/>
                <a:ea typeface="+mn-lt"/>
                <a:cs typeface="+mn-lt"/>
              </a:rPr>
              <a:t>rješenje</a:t>
            </a:r>
            <a:r>
              <a:rPr lang="en-US" sz="2000" dirty="0">
                <a:latin typeface="Aptos"/>
                <a:ea typeface="+mn-lt"/>
                <a:cs typeface="+mn-lt"/>
              </a:rPr>
              <a:t>: </a:t>
            </a:r>
            <a:r>
              <a:rPr lang="en-US" sz="2000" dirty="0" err="1">
                <a:latin typeface="Aptos"/>
                <a:ea typeface="+mn-lt"/>
                <a:cs typeface="+mn-lt"/>
              </a:rPr>
              <a:t>Automatska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registracija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pri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prvoj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prijavi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r>
              <a:rPr lang="en-US" sz="2000" b="1" dirty="0" err="1">
                <a:latin typeface="Aptos"/>
                <a:ea typeface="+mn-lt"/>
                <a:cs typeface="+mn-lt"/>
              </a:rPr>
              <a:t>Generiranje</a:t>
            </a:r>
            <a:r>
              <a:rPr lang="en-US" sz="2000" b="1" dirty="0">
                <a:latin typeface="Aptos"/>
                <a:ea typeface="+mn-lt"/>
                <a:cs typeface="+mn-lt"/>
              </a:rPr>
              <a:t> PDF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dokumenata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endParaRPr lang="en-US" sz="2000" dirty="0">
              <a:latin typeface="Aptos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problem: </a:t>
            </a:r>
            <a:r>
              <a:rPr lang="en-US" sz="2000" dirty="0" err="1">
                <a:latin typeface="Aptos"/>
                <a:ea typeface="+mn-lt"/>
                <a:cs typeface="+mn-lt"/>
              </a:rPr>
              <a:t>Formatiranje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spremanje</a:t>
            </a:r>
            <a:endParaRPr lang="en-US" sz="2000" dirty="0" err="1">
              <a:latin typeface="Aptos"/>
            </a:endParaRPr>
          </a:p>
          <a:p>
            <a:r>
              <a:rPr lang="en-US" sz="2000" dirty="0" err="1">
                <a:latin typeface="Aptos"/>
                <a:ea typeface="+mn-lt"/>
                <a:cs typeface="+mn-lt"/>
              </a:rPr>
              <a:t>rješenje</a:t>
            </a:r>
            <a:r>
              <a:rPr lang="en-US" sz="2000" dirty="0">
                <a:latin typeface="Aptos"/>
                <a:ea typeface="+mn-lt"/>
                <a:cs typeface="+mn-lt"/>
              </a:rPr>
              <a:t>: </a:t>
            </a:r>
            <a:r>
              <a:rPr lang="en-US" sz="2000" dirty="0" err="1">
                <a:latin typeface="Aptos"/>
                <a:ea typeface="+mn-lt"/>
                <a:cs typeface="+mn-lt"/>
              </a:rPr>
              <a:t>iText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biblioteka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endParaRPr lang="en-US" sz="2000" dirty="0"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9FCA8-8698-843C-3909-95048D60E5CB}"/>
              </a:ext>
            </a:extLst>
          </p:cNvPr>
          <p:cNvSpPr txBox="1"/>
          <p:nvPr/>
        </p:nvSpPr>
        <p:spPr>
          <a:xfrm>
            <a:off x="5994400" y="1826491"/>
            <a:ext cx="4964546" cy="34983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2000" b="1" spc="10" dirty="0" err="1">
                <a:latin typeface="Aptos"/>
                <a:ea typeface="+mn-lt"/>
                <a:cs typeface="+mn-lt"/>
              </a:rPr>
              <a:t>Upravljanje</a:t>
            </a:r>
            <a:r>
              <a:rPr lang="en-US" sz="2000" b="1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b="1" spc="10" dirty="0" err="1">
                <a:latin typeface="Aptos"/>
                <a:ea typeface="+mn-lt"/>
                <a:cs typeface="+mn-lt"/>
              </a:rPr>
              <a:t>terminima</a:t>
            </a:r>
            <a:r>
              <a:rPr lang="en-US" sz="2000" b="1" spc="10" dirty="0">
                <a:latin typeface="Aptos"/>
                <a:ea typeface="+mn-lt"/>
                <a:cs typeface="+mn-lt"/>
              </a:rPr>
              <a:t> ​</a:t>
            </a:r>
            <a:endParaRPr lang="en-US" sz="2000" b="1" dirty="0">
              <a:latin typeface="Aptos"/>
            </a:endParaRPr>
          </a:p>
          <a:p>
            <a:pPr marL="182880" lvl="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problem: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Izbjegavanje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preklapanja</a:t>
            </a:r>
            <a:r>
              <a:rPr lang="en-US" sz="2000" spc="10" dirty="0">
                <a:latin typeface="Aptos"/>
                <a:ea typeface="+mn-lt"/>
                <a:cs typeface="+mn-lt"/>
              </a:rPr>
              <a:t>​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rješenje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: Status termina (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zauzet</a:t>
            </a:r>
            <a:r>
              <a:rPr lang="en-US" sz="2000" spc="10" dirty="0">
                <a:latin typeface="Aptos"/>
                <a:ea typeface="+mn-lt"/>
                <a:cs typeface="+mn-lt"/>
              </a:rPr>
              <a:t>/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slobodan</a:t>
            </a:r>
            <a:r>
              <a:rPr lang="en-US" sz="2000" spc="10" dirty="0">
                <a:latin typeface="Aptos"/>
                <a:ea typeface="+mn-lt"/>
                <a:cs typeface="+mn-lt"/>
              </a:rPr>
              <a:t>)​</a:t>
            </a:r>
          </a:p>
          <a:p>
            <a:pPr lvl="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2000" b="1" spc="10" dirty="0">
                <a:latin typeface="Aptos"/>
                <a:ea typeface="+mn-lt"/>
                <a:cs typeface="+mn-lt"/>
              </a:rPr>
              <a:t>Email </a:t>
            </a:r>
            <a:r>
              <a:rPr lang="en-US" sz="2000" b="1" spc="10" dirty="0" err="1">
                <a:latin typeface="Aptos"/>
                <a:ea typeface="+mn-lt"/>
                <a:cs typeface="+mn-lt"/>
              </a:rPr>
              <a:t>notifikacije</a:t>
            </a:r>
            <a:r>
              <a:rPr lang="en-US" sz="2000" b="1" spc="10" dirty="0">
                <a:latin typeface="Aptos"/>
                <a:ea typeface="+mn-lt"/>
                <a:cs typeface="+mn-lt"/>
              </a:rPr>
              <a:t> ​</a:t>
            </a:r>
            <a:endParaRPr lang="en-US" sz="2000" b="1">
              <a:latin typeface="Aptos"/>
            </a:endParaRPr>
          </a:p>
          <a:p>
            <a:pPr marL="182880" lvl="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problem: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Pouzdano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slanje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praćenje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​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rješenje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: </a:t>
            </a:r>
            <a:r>
              <a:rPr lang="en-US" sz="2000" spc="10" dirty="0">
                <a:ea typeface="+mn-lt"/>
                <a:cs typeface="+mn-lt"/>
              </a:rPr>
              <a:t>Brevo API </a:t>
            </a:r>
            <a:r>
              <a:rPr lang="en-US" sz="2000" spc="10" dirty="0" err="1">
                <a:ea typeface="+mn-lt"/>
                <a:cs typeface="+mn-lt"/>
              </a:rPr>
              <a:t>integracija</a:t>
            </a:r>
            <a:endParaRPr lang="en-US" sz="2000" spc="10">
              <a:ea typeface="+mn-lt"/>
              <a:cs typeface="+mn-lt"/>
            </a:endParaRPr>
          </a:p>
          <a:p>
            <a:pPr algn="ctr"/>
            <a:endParaRPr lang="en-US" sz="2000">
              <a:latin typeface="Aptos"/>
            </a:endParaRPr>
          </a:p>
        </p:txBody>
      </p:sp>
      <p:pic>
        <p:nvPicPr>
          <p:cNvPr id="6" name="Picture 5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6B7A73AD-AA10-C5E1-3E41-16B41B02B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73735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E8D9-419A-EDD2-14C2-58AAC936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Organizacija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projekta</a:t>
            </a:r>
            <a:endParaRPr lang="en-US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33C2D-B48F-E13A-8E6A-BC54EC55F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157288" cy="43513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Aptos"/>
                <a:ea typeface="+mn-lt"/>
                <a:cs typeface="+mn-lt"/>
              </a:rPr>
              <a:t>GitHub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repozitorij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✓ Git-flow model (master, backend-setup, </a:t>
            </a:r>
            <a:r>
              <a:rPr lang="en-US" sz="2000" err="1">
                <a:latin typeface="Aptos"/>
                <a:ea typeface="+mn-lt"/>
                <a:cs typeface="+mn-lt"/>
              </a:rPr>
              <a:t>funkcijski-zahtjevi</a:t>
            </a:r>
            <a:r>
              <a:rPr lang="en-US" sz="2000" dirty="0">
                <a:latin typeface="Aptos"/>
                <a:ea typeface="+mn-lt"/>
                <a:cs typeface="+mn-lt"/>
              </a:rPr>
              <a:t>, front)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✓ </a:t>
            </a:r>
            <a:r>
              <a:rPr lang="en-US" sz="2000" dirty="0" err="1">
                <a:latin typeface="Aptos"/>
                <a:ea typeface="+mn-lt"/>
                <a:cs typeface="+mn-lt"/>
              </a:rPr>
              <a:t>jasna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struktura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commitova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✓ code review </a:t>
            </a:r>
            <a:r>
              <a:rPr lang="en-US" sz="2000" dirty="0" err="1">
                <a:latin typeface="Aptos"/>
                <a:ea typeface="+mn-lt"/>
                <a:cs typeface="+mn-lt"/>
              </a:rPr>
              <a:t>proces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r>
              <a:rPr lang="en-US" sz="2000" b="1" dirty="0" err="1">
                <a:latin typeface="Aptos"/>
                <a:ea typeface="+mn-lt"/>
                <a:cs typeface="+mn-lt"/>
              </a:rPr>
              <a:t>Komunikacija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 dirty="0">
              <a:latin typeface="Aptos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Discord server za online </a:t>
            </a:r>
            <a:r>
              <a:rPr lang="en-US" sz="2000" dirty="0" err="1">
                <a:latin typeface="Aptos"/>
                <a:ea typeface="+mn-lt"/>
                <a:cs typeface="+mn-lt"/>
              </a:rPr>
              <a:t>sastanke</a:t>
            </a:r>
            <a:endParaRPr lang="en-US" sz="2000" dirty="0" err="1">
              <a:latin typeface="Aptos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WhatsApp </a:t>
            </a:r>
            <a:r>
              <a:rPr lang="en-US" sz="2000" err="1">
                <a:latin typeface="Aptos"/>
                <a:ea typeface="+mn-lt"/>
                <a:cs typeface="+mn-lt"/>
              </a:rPr>
              <a:t>grupa</a:t>
            </a:r>
            <a:r>
              <a:rPr lang="en-US" sz="2000" dirty="0">
                <a:latin typeface="Aptos"/>
                <a:ea typeface="+mn-lt"/>
                <a:cs typeface="+mn-lt"/>
              </a:rPr>
              <a:t> za </a:t>
            </a:r>
            <a:r>
              <a:rPr lang="en-US" sz="2000" err="1">
                <a:latin typeface="Aptos"/>
                <a:ea typeface="+mn-lt"/>
                <a:cs typeface="+mn-lt"/>
              </a:rPr>
              <a:t>brzu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latin typeface="Aptos"/>
                <a:ea typeface="+mn-lt"/>
                <a:cs typeface="+mn-lt"/>
              </a:rPr>
              <a:t>komunikaciju</a:t>
            </a:r>
            <a:endParaRPr lang="en-US" sz="2000" err="1">
              <a:latin typeface="Aptos"/>
            </a:endParaRPr>
          </a:p>
          <a:p>
            <a:r>
              <a:rPr lang="en-US" sz="2000" dirty="0" err="1">
                <a:latin typeface="Aptos"/>
                <a:ea typeface="+mn-lt"/>
                <a:cs typeface="+mn-lt"/>
              </a:rPr>
              <a:t>redoviti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tjedni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sastanci</a:t>
            </a:r>
            <a:endParaRPr lang="en-US" sz="2000" dirty="0" err="1">
              <a:latin typeface="Aptos"/>
            </a:endParaRPr>
          </a:p>
          <a:p>
            <a:pPr marL="0" indent="0">
              <a:buNone/>
            </a:pPr>
            <a:endParaRPr lang="en-US" sz="2000" dirty="0"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5DDC7-6B72-AC01-9962-ACE46CFC26C6}"/>
              </a:ext>
            </a:extLst>
          </p:cNvPr>
          <p:cNvSpPr txBox="1"/>
          <p:nvPr/>
        </p:nvSpPr>
        <p:spPr>
          <a:xfrm>
            <a:off x="5500256" y="1831109"/>
            <a:ext cx="5768108" cy="46987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2000" b="1" spc="10" dirty="0" err="1">
                <a:latin typeface="Aptos"/>
                <a:ea typeface="+mn-lt"/>
                <a:cs typeface="+mn-lt"/>
              </a:rPr>
              <a:t>Podjela</a:t>
            </a:r>
            <a:r>
              <a:rPr lang="en-US" sz="2000" b="1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b="1" spc="10" dirty="0" err="1">
                <a:latin typeface="Aptos"/>
                <a:ea typeface="+mn-lt"/>
                <a:cs typeface="+mn-lt"/>
              </a:rPr>
              <a:t>zadataka</a:t>
            </a:r>
            <a:r>
              <a:rPr lang="en-US" sz="2000" b="1" spc="10" dirty="0">
                <a:latin typeface="Aptos"/>
                <a:ea typeface="+mn-lt"/>
                <a:cs typeface="+mn-lt"/>
              </a:rPr>
              <a:t>:</a:t>
            </a:r>
          </a:p>
          <a:p>
            <a:pPr marL="285750" indent="-28575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frontend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tim</a:t>
            </a:r>
            <a:r>
              <a:rPr lang="en-US" sz="2000" spc="10" dirty="0">
                <a:latin typeface="Aptos"/>
                <a:ea typeface="+mn-lt"/>
                <a:cs typeface="+mn-lt"/>
              </a:rPr>
              <a:t>: Mia Bagarić, Domagoj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Vitković</a:t>
            </a:r>
            <a:endParaRPr lang="en-US" sz="2000" spc="10" dirty="0">
              <a:latin typeface="Aptos"/>
              <a:ea typeface="+mn-lt"/>
              <a:cs typeface="+mn-lt"/>
            </a:endParaRPr>
          </a:p>
          <a:p>
            <a:pPr marL="285750" indent="-28575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backend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tim</a:t>
            </a:r>
            <a:r>
              <a:rPr lang="en-US" sz="2000" spc="10" dirty="0">
                <a:latin typeface="Aptos"/>
                <a:ea typeface="+mn-lt"/>
                <a:cs typeface="+mn-lt"/>
              </a:rPr>
              <a:t>: Adrijan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Lazanja</a:t>
            </a:r>
            <a:r>
              <a:rPr lang="en-US" sz="2000" spc="10" dirty="0">
                <a:latin typeface="Aptos"/>
                <a:ea typeface="+mn-lt"/>
                <a:cs typeface="+mn-lt"/>
              </a:rPr>
              <a:t>, Katarina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Bencun</a:t>
            </a:r>
            <a:endParaRPr lang="en-US" sz="2000" spc="10" dirty="0">
              <a:latin typeface="Aptos"/>
              <a:ea typeface="+mn-lt"/>
              <a:cs typeface="+mn-lt"/>
            </a:endParaRPr>
          </a:p>
          <a:p>
            <a:pPr marL="285750" indent="-28575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dokumentacija</a:t>
            </a:r>
            <a:r>
              <a:rPr lang="en-US" sz="2000" spc="10" dirty="0">
                <a:latin typeface="Aptos"/>
                <a:ea typeface="+mn-lt"/>
                <a:cs typeface="+mn-lt"/>
              </a:rPr>
              <a:t>: Ivan Petrović, Ivano Sorić</a:t>
            </a:r>
          </a:p>
          <a:p>
            <a:pPr marL="285750" indent="-28575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ispitivanje</a:t>
            </a:r>
            <a:r>
              <a:rPr lang="en-US" sz="2000" spc="10" dirty="0">
                <a:latin typeface="Aptos"/>
                <a:ea typeface="+mn-lt"/>
                <a:cs typeface="+mn-lt"/>
              </a:rPr>
              <a:t>: Adrijan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Lazanja</a:t>
            </a:r>
            <a:endParaRPr lang="en-US" sz="2000" spc="10">
              <a:latin typeface="Aptos"/>
              <a:ea typeface="+mn-lt"/>
              <a:cs typeface="+mn-lt"/>
            </a:endParaRP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2000" b="1" spc="10" dirty="0">
                <a:latin typeface="Aptos"/>
                <a:ea typeface="+mn-lt"/>
                <a:cs typeface="+mn-lt"/>
              </a:rPr>
              <a:t>Dokumentacija:</a:t>
            </a:r>
          </a:p>
          <a:p>
            <a:pPr marL="285750" indent="-28575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potpuna</a:t>
            </a:r>
            <a:r>
              <a:rPr lang="en-US" sz="2000" spc="10" dirty="0">
                <a:latin typeface="Aptos"/>
                <a:ea typeface="+mn-lt"/>
                <a:cs typeface="+mn-lt"/>
              </a:rPr>
              <a:t> Wiki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na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GitHubu</a:t>
            </a:r>
            <a:endParaRPr lang="en-US" sz="2000" spc="10" dirty="0">
              <a:latin typeface="Aptos"/>
              <a:ea typeface="+mn-lt"/>
              <a:cs typeface="+mn-lt"/>
            </a:endParaRPr>
          </a:p>
          <a:p>
            <a:pPr marL="285750" indent="-28575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>
                <a:latin typeface="Aptos"/>
                <a:ea typeface="+mn-lt"/>
                <a:cs typeface="+mn-lt"/>
              </a:rPr>
              <a:t>UML </a:t>
            </a:r>
            <a:r>
              <a:rPr lang="en-US" sz="2000" spc="10" err="1">
                <a:latin typeface="Aptos"/>
                <a:ea typeface="+mn-lt"/>
                <a:cs typeface="+mn-lt"/>
              </a:rPr>
              <a:t>dijagrami</a:t>
            </a:r>
            <a:r>
              <a:rPr lang="en-US" sz="2000" spc="10" dirty="0">
                <a:latin typeface="Aptos"/>
                <a:ea typeface="+mn-lt"/>
                <a:cs typeface="+mn-lt"/>
              </a:rPr>
              <a:t> (Use Case, Sequence, Class, ER)</a:t>
            </a:r>
          </a:p>
          <a:p>
            <a:pPr marL="285750" indent="-28575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/>
              <a:buChar char="•"/>
            </a:pPr>
            <a:r>
              <a:rPr lang="en-US" sz="2000" spc="10" dirty="0" err="1">
                <a:latin typeface="Aptos"/>
                <a:ea typeface="+mn-lt"/>
                <a:cs typeface="+mn-lt"/>
              </a:rPr>
              <a:t>tehnička</a:t>
            </a:r>
            <a:r>
              <a:rPr lang="en-US" sz="2000" spc="10" dirty="0">
                <a:latin typeface="Aptos"/>
                <a:ea typeface="+mn-lt"/>
                <a:cs typeface="+mn-lt"/>
              </a:rPr>
              <a:t> </a:t>
            </a:r>
            <a:r>
              <a:rPr lang="en-US" sz="2000" spc="10" dirty="0" err="1">
                <a:latin typeface="Aptos"/>
                <a:ea typeface="+mn-lt"/>
                <a:cs typeface="+mn-lt"/>
              </a:rPr>
              <a:t>dokumentacija</a:t>
            </a:r>
            <a:endParaRPr lang="en-US" sz="2000" spc="10" dirty="0">
              <a:latin typeface="Aptos"/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endParaRPr lang="en-US" sz="2000">
              <a:latin typeface="Aptos"/>
            </a:endParaRPr>
          </a:p>
        </p:txBody>
      </p:sp>
      <p:pic>
        <p:nvPicPr>
          <p:cNvPr id="6" name="Picture 5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A01F9308-84FC-BA17-E130-9B8B2F937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33163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CD67-A7BB-F137-D23E-C38382077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017" y="125615"/>
            <a:ext cx="9692640" cy="1325562"/>
          </a:xfrm>
        </p:spPr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Budući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razvoj</a:t>
            </a:r>
            <a:endParaRPr lang="en-US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893E6-79FA-422F-2419-534EC60DE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017" y="1597892"/>
            <a:ext cx="8595360" cy="5196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err="1">
                <a:latin typeface="Aptos"/>
                <a:ea typeface="+mn-lt"/>
                <a:cs typeface="+mn-lt"/>
              </a:rPr>
              <a:t>Kratkoročno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📱 push </a:t>
            </a:r>
            <a:r>
              <a:rPr lang="en-US" dirty="0" err="1">
                <a:latin typeface="Aptos"/>
                <a:ea typeface="+mn-lt"/>
                <a:cs typeface="+mn-lt"/>
              </a:rPr>
              <a:t>notifikacije</a:t>
            </a:r>
            <a:r>
              <a:rPr lang="en-US" dirty="0">
                <a:latin typeface="Aptos"/>
                <a:ea typeface="+mn-lt"/>
                <a:cs typeface="+mn-lt"/>
              </a:rPr>
              <a:t> (Firebase)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💳 </a:t>
            </a:r>
            <a:r>
              <a:rPr lang="en-US" dirty="0" err="1">
                <a:latin typeface="Aptos"/>
                <a:ea typeface="+mn-lt"/>
                <a:cs typeface="+mn-lt"/>
              </a:rPr>
              <a:t>integracija</a:t>
            </a:r>
            <a:r>
              <a:rPr lang="en-US" dirty="0">
                <a:latin typeface="Aptos"/>
                <a:ea typeface="+mn-lt"/>
                <a:cs typeface="+mn-lt"/>
              </a:rPr>
              <a:t> s </a:t>
            </a:r>
            <a:r>
              <a:rPr lang="en-US" dirty="0" err="1">
                <a:latin typeface="Aptos"/>
                <a:ea typeface="+mn-lt"/>
                <a:cs typeface="+mn-lt"/>
              </a:rPr>
              <a:t>platnim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sustavima</a:t>
            </a:r>
            <a:endParaRPr lang="en-US" dirty="0" err="1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⭐ </a:t>
            </a:r>
            <a:r>
              <a:rPr lang="en-US" dirty="0" err="1">
                <a:latin typeface="Aptos"/>
                <a:ea typeface="+mn-lt"/>
                <a:cs typeface="+mn-lt"/>
              </a:rPr>
              <a:t>ocjenjivanje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servisera</a:t>
            </a:r>
            <a:endParaRPr lang="en-US" dirty="0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latin typeface="Aptos"/>
            </a:endParaRPr>
          </a:p>
          <a:p>
            <a:pPr marL="0" indent="0">
              <a:buNone/>
            </a:pPr>
            <a:endParaRPr lang="en-US" dirty="0">
              <a:latin typeface="Apto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latin typeface="Aptos"/>
              </a:rPr>
              <a:t>Prilagodba</a:t>
            </a:r>
            <a:r>
              <a:rPr lang="en-US" sz="2000" b="1" dirty="0">
                <a:latin typeface="Aptos"/>
              </a:rPr>
              <a:t>:</a:t>
            </a:r>
            <a:endParaRPr lang="en-US" sz="2000" dirty="0">
              <a:latin typeface="Aptos"/>
            </a:endParaRPr>
          </a:p>
          <a:p>
            <a:pPr marL="285750" indent="-285750">
              <a:lnSpc>
                <a:spcPct val="85000"/>
              </a:lnSpc>
              <a:buFont typeface="Arial,Sans-Serif"/>
              <a:buChar char="•"/>
            </a:pPr>
            <a:r>
              <a:rPr lang="en-US" dirty="0" err="1">
                <a:latin typeface="Aptos"/>
              </a:rPr>
              <a:t>autopraonice</a:t>
            </a:r>
            <a:endParaRPr lang="en-US">
              <a:latin typeface="Aptos"/>
            </a:endParaRPr>
          </a:p>
          <a:p>
            <a:pPr marL="285750" indent="-285750">
              <a:lnSpc>
                <a:spcPct val="85000"/>
              </a:lnSpc>
              <a:buFont typeface="Arial,Sans-Serif"/>
              <a:buChar char="•"/>
            </a:pPr>
            <a:r>
              <a:rPr lang="en-US" dirty="0" err="1">
                <a:latin typeface="Aptos"/>
              </a:rPr>
              <a:t>vulkanizerske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radionice</a:t>
            </a:r>
            <a:endParaRPr lang="en-US" dirty="0">
              <a:latin typeface="Aptos"/>
            </a:endParaRPr>
          </a:p>
          <a:p>
            <a:pPr marL="285750" indent="-285750">
              <a:lnSpc>
                <a:spcPct val="85000"/>
              </a:lnSpc>
              <a:buFont typeface="Arial,Sans-Serif"/>
              <a:buChar char="•"/>
            </a:pPr>
            <a:r>
              <a:rPr lang="en-US" dirty="0" err="1">
                <a:latin typeface="Aptos"/>
              </a:rPr>
              <a:t>sustavi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najma</a:t>
            </a:r>
            <a:endParaRPr lang="en-US"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F2C71-99B6-20EE-73A8-683234899A51}"/>
              </a:ext>
            </a:extLst>
          </p:cNvPr>
          <p:cNvSpPr txBox="1"/>
          <p:nvPr/>
        </p:nvSpPr>
        <p:spPr>
          <a:xfrm>
            <a:off x="5971309" y="1600198"/>
            <a:ext cx="3870037" cy="34696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2000" b="1" spc="10" dirty="0" err="1">
                <a:latin typeface="Aptos"/>
              </a:rPr>
              <a:t>Dugoročno</a:t>
            </a:r>
            <a:r>
              <a:rPr lang="en-US" sz="2000" b="1" spc="10" dirty="0">
                <a:latin typeface="Aptos"/>
              </a:rPr>
              <a:t>:</a:t>
            </a:r>
            <a:endParaRPr lang="en-US" sz="2000" spc="10" dirty="0">
              <a:latin typeface="Aptos"/>
            </a:endParaRP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pc="10" dirty="0">
                <a:latin typeface="Aptos"/>
              </a:rPr>
              <a:t>📱 </a:t>
            </a:r>
            <a:r>
              <a:rPr lang="en-US" spc="10" dirty="0" err="1">
                <a:latin typeface="Aptos"/>
              </a:rPr>
              <a:t>mobilna</a:t>
            </a:r>
            <a:r>
              <a:rPr lang="en-US" spc="10" dirty="0">
                <a:latin typeface="Aptos"/>
              </a:rPr>
              <a:t> </a:t>
            </a:r>
            <a:r>
              <a:rPr lang="en-US" spc="10" dirty="0" err="1">
                <a:latin typeface="Aptos"/>
              </a:rPr>
              <a:t>aplikacija</a:t>
            </a:r>
            <a:r>
              <a:rPr lang="en-US" spc="10" dirty="0">
                <a:latin typeface="Aptos"/>
              </a:rPr>
              <a:t> (iOS/Android)</a:t>
            </a: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pc="10" dirty="0">
                <a:latin typeface="Aptos"/>
              </a:rPr>
              <a:t>💬 SMS </a:t>
            </a:r>
            <a:r>
              <a:rPr lang="en-US" spc="10" dirty="0" err="1">
                <a:latin typeface="Aptos"/>
              </a:rPr>
              <a:t>notifikacije</a:t>
            </a:r>
            <a:r>
              <a:rPr lang="en-US" spc="10" dirty="0">
                <a:latin typeface="Aptos"/>
              </a:rPr>
              <a:t> (Twilio)</a:t>
            </a: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pc="10" dirty="0">
                <a:latin typeface="Aptos"/>
              </a:rPr>
              <a:t>🤖 AI </a:t>
            </a:r>
            <a:r>
              <a:rPr lang="en-US" spc="10" dirty="0" err="1">
                <a:latin typeface="Aptos"/>
              </a:rPr>
              <a:t>prediktivna</a:t>
            </a:r>
            <a:r>
              <a:rPr lang="en-US" spc="10" dirty="0">
                <a:latin typeface="Aptos"/>
              </a:rPr>
              <a:t> </a:t>
            </a:r>
            <a:r>
              <a:rPr lang="en-US" spc="10" dirty="0" err="1">
                <a:latin typeface="Aptos"/>
              </a:rPr>
              <a:t>analiza</a:t>
            </a:r>
            <a:endParaRPr lang="en-US" spc="10" dirty="0">
              <a:latin typeface="Aptos"/>
            </a:endParaRP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pc="10" dirty="0">
                <a:latin typeface="Aptos"/>
              </a:rPr>
              <a:t>📊 real-time dashboard</a:t>
            </a: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pc="10" dirty="0">
                <a:latin typeface="Aptos"/>
              </a:rPr>
              <a:t>🔌 ERP </a:t>
            </a:r>
            <a:r>
              <a:rPr lang="en-US" spc="10" dirty="0" err="1">
                <a:latin typeface="Aptos"/>
              </a:rPr>
              <a:t>sustavi</a:t>
            </a:r>
            <a:endParaRPr lang="en-US" spc="10" dirty="0">
              <a:latin typeface="Aptos"/>
            </a:endParaRPr>
          </a:p>
          <a:p>
            <a:pPr>
              <a:lnSpc>
                <a:spcPct val="85000"/>
              </a:lnSpc>
              <a:spcBef>
                <a:spcPts val="1400"/>
              </a:spcBef>
              <a:spcAft>
                <a:spcPts val="200"/>
              </a:spcAft>
            </a:pPr>
            <a:endParaRPr lang="en-US" spc="10" dirty="0">
              <a:latin typeface="Aptos"/>
            </a:endParaRPr>
          </a:p>
          <a:p>
            <a:pPr algn="ctr"/>
            <a:endParaRPr lang="en-US">
              <a:latin typeface="Aptos"/>
            </a:endParaRPr>
          </a:p>
        </p:txBody>
      </p:sp>
      <p:pic>
        <p:nvPicPr>
          <p:cNvPr id="6" name="Picture 5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E35C3981-B378-B882-4265-45070B47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97269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79F1-C164-7DFF-3338-6F548924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/>
                <a:ea typeface="+mj-lt"/>
                <a:cs typeface="+mj-lt"/>
              </a:rPr>
              <a:t>Što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smo</a:t>
            </a:r>
            <a:r>
              <a:rPr lang="en-US" dirty="0">
                <a:latin typeface="Aptos"/>
                <a:ea typeface="+mj-lt"/>
                <a:cs typeface="+mj-lt"/>
              </a:rPr>
              <a:t> </a:t>
            </a:r>
            <a:r>
              <a:rPr lang="en-US" dirty="0" err="1">
                <a:latin typeface="Aptos"/>
                <a:ea typeface="+mj-lt"/>
                <a:cs typeface="+mj-lt"/>
              </a:rPr>
              <a:t>naučili</a:t>
            </a:r>
            <a:r>
              <a:rPr lang="en-US" dirty="0">
                <a:latin typeface="Aptos"/>
                <a:ea typeface="+mj-lt"/>
                <a:cs typeface="+mj-lt"/>
              </a:rPr>
              <a:t>?</a:t>
            </a:r>
            <a:endParaRPr lang="en-US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E0E3D-BBDB-F58C-0B14-22DFE5E2E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619106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err="1">
                <a:latin typeface="Aptos"/>
                <a:ea typeface="+mn-lt"/>
                <a:cs typeface="+mn-lt"/>
              </a:rPr>
              <a:t>Tehničke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err="1">
                <a:latin typeface="Aptos"/>
                <a:ea typeface="+mn-lt"/>
                <a:cs typeface="+mn-lt"/>
              </a:rPr>
              <a:t>vještine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 dirty="0">
              <a:latin typeface="Aptos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full-stack </a:t>
            </a:r>
            <a:r>
              <a:rPr lang="en-US" dirty="0" err="1">
                <a:latin typeface="Aptos"/>
                <a:ea typeface="+mn-lt"/>
                <a:cs typeface="+mn-lt"/>
              </a:rPr>
              <a:t>razvoj</a:t>
            </a:r>
            <a:r>
              <a:rPr lang="en-US" dirty="0">
                <a:latin typeface="Aptos"/>
                <a:ea typeface="+mn-lt"/>
                <a:cs typeface="+mn-lt"/>
              </a:rPr>
              <a:t> (React + Spring Boot)</a:t>
            </a:r>
            <a:endParaRPr lang="en-US" dirty="0">
              <a:latin typeface="Aptos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OAuth2 </a:t>
            </a:r>
            <a:r>
              <a:rPr lang="en-US" dirty="0" err="1">
                <a:latin typeface="Aptos"/>
                <a:ea typeface="+mn-lt"/>
                <a:cs typeface="+mn-lt"/>
              </a:rPr>
              <a:t>i</a:t>
            </a:r>
            <a:r>
              <a:rPr lang="en-US" dirty="0">
                <a:latin typeface="Aptos"/>
                <a:ea typeface="+mn-lt"/>
                <a:cs typeface="+mn-lt"/>
              </a:rPr>
              <a:t> Spring Security</a:t>
            </a:r>
            <a:endParaRPr lang="en-US" dirty="0">
              <a:latin typeface="Aptos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REST API </a:t>
            </a:r>
            <a:r>
              <a:rPr lang="en-US" dirty="0" err="1">
                <a:latin typeface="Aptos"/>
                <a:ea typeface="+mn-lt"/>
                <a:cs typeface="+mn-lt"/>
              </a:rPr>
              <a:t>dizajn</a:t>
            </a:r>
            <a:endParaRPr lang="en-US" dirty="0" err="1">
              <a:latin typeface="Aptos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PostgreSQL </a:t>
            </a:r>
            <a:r>
              <a:rPr lang="en-US" dirty="0" err="1">
                <a:latin typeface="Aptos"/>
                <a:ea typeface="+mn-lt"/>
                <a:cs typeface="+mn-lt"/>
              </a:rPr>
              <a:t>i</a:t>
            </a:r>
            <a:r>
              <a:rPr lang="en-US" dirty="0">
                <a:latin typeface="Aptos"/>
                <a:ea typeface="+mn-lt"/>
                <a:cs typeface="+mn-lt"/>
              </a:rPr>
              <a:t> JPA</a:t>
            </a:r>
            <a:endParaRPr lang="en-US" dirty="0">
              <a:latin typeface="Aptos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Selenium </a:t>
            </a:r>
            <a:r>
              <a:rPr lang="en-US" dirty="0" err="1">
                <a:latin typeface="Aptos"/>
                <a:ea typeface="+mn-lt"/>
                <a:cs typeface="+mn-lt"/>
              </a:rPr>
              <a:t>testiranje</a:t>
            </a:r>
            <a:endParaRPr lang="en-US" dirty="0" err="1">
              <a:latin typeface="Aptos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Docker deployment</a:t>
            </a:r>
            <a:endParaRPr lang="en-US" dirty="0">
              <a:latin typeface="Aptos"/>
            </a:endParaRPr>
          </a:p>
          <a:p>
            <a:endParaRPr lang="en-US" dirty="0">
              <a:latin typeface="Apto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479053-977F-39F8-EAFF-9719C48C961D}"/>
              </a:ext>
            </a:extLst>
          </p:cNvPr>
          <p:cNvSpPr txBox="1">
            <a:spLocks/>
          </p:cNvSpPr>
          <p:nvPr/>
        </p:nvSpPr>
        <p:spPr>
          <a:xfrm>
            <a:off x="5880054" y="1828800"/>
            <a:ext cx="4619106" cy="4748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b="1" err="1">
                <a:latin typeface="Aptos"/>
                <a:ea typeface="+mn-lt"/>
                <a:cs typeface="+mn-lt"/>
              </a:rPr>
              <a:t>Timske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err="1">
                <a:latin typeface="Aptos"/>
                <a:ea typeface="+mn-lt"/>
                <a:cs typeface="+mn-lt"/>
              </a:rPr>
              <a:t>vještine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 dirty="0">
              <a:latin typeface="Aptos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 dirty="0">
                <a:latin typeface="Aptos"/>
                <a:ea typeface="+mn-lt"/>
                <a:cs typeface="+mn-lt"/>
              </a:rPr>
              <a:t>Git workflow </a:t>
            </a:r>
            <a:r>
              <a:rPr lang="en-US" dirty="0" err="1">
                <a:latin typeface="Aptos"/>
                <a:ea typeface="+mn-lt"/>
                <a:cs typeface="+mn-lt"/>
              </a:rPr>
              <a:t>i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suradnja</a:t>
            </a:r>
            <a:endParaRPr lang="en-US" dirty="0" err="1">
              <a:latin typeface="Aptos"/>
            </a:endParaRPr>
          </a:p>
          <a:p>
            <a:pPr>
              <a:buFont typeface="Arial"/>
            </a:pPr>
            <a:r>
              <a:rPr lang="en-US" dirty="0" err="1">
                <a:latin typeface="Aptos"/>
                <a:ea typeface="+mn-lt"/>
                <a:cs typeface="+mn-lt"/>
              </a:rPr>
              <a:t>projektna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dokumentacija</a:t>
            </a:r>
            <a:endParaRPr lang="en-US" dirty="0" err="1">
              <a:latin typeface="Aptos"/>
            </a:endParaRPr>
          </a:p>
          <a:p>
            <a:pPr>
              <a:buFont typeface="Arial"/>
            </a:pPr>
            <a:r>
              <a:rPr lang="en-US" dirty="0">
                <a:latin typeface="Aptos"/>
                <a:ea typeface="+mn-lt"/>
                <a:cs typeface="+mn-lt"/>
              </a:rPr>
              <a:t>UML </a:t>
            </a:r>
            <a:r>
              <a:rPr lang="en-US" dirty="0" err="1">
                <a:latin typeface="Aptos"/>
                <a:ea typeface="+mn-lt"/>
                <a:cs typeface="+mn-lt"/>
              </a:rPr>
              <a:t>modeliranje</a:t>
            </a:r>
            <a:endParaRPr lang="en-US" dirty="0" err="1">
              <a:latin typeface="Aptos"/>
            </a:endParaRPr>
          </a:p>
          <a:p>
            <a:pPr>
              <a:buFont typeface="Arial"/>
            </a:pPr>
            <a:r>
              <a:rPr lang="en-US" dirty="0" err="1">
                <a:latin typeface="Aptos"/>
                <a:ea typeface="+mn-lt"/>
                <a:cs typeface="+mn-lt"/>
              </a:rPr>
              <a:t>podjela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zadataka</a:t>
            </a:r>
            <a:endParaRPr lang="en-US" dirty="0" err="1">
              <a:latin typeface="Aptos"/>
            </a:endParaRPr>
          </a:p>
          <a:p>
            <a:pPr>
              <a:buFont typeface="Arial"/>
            </a:pPr>
            <a:r>
              <a:rPr lang="en-US" dirty="0" err="1">
                <a:latin typeface="Aptos"/>
                <a:ea typeface="+mn-lt"/>
                <a:cs typeface="+mn-lt"/>
              </a:rPr>
              <a:t>agilan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razvoj</a:t>
            </a:r>
          </a:p>
          <a:p>
            <a:pPr marL="0" indent="0">
              <a:spcBef>
                <a:spcPts val="2100"/>
              </a:spcBef>
              <a:buNone/>
            </a:pPr>
            <a:r>
              <a:rPr lang="en-US" sz="2000" b="1" err="1">
                <a:latin typeface="Aptos"/>
                <a:ea typeface="+mn-lt"/>
                <a:cs typeface="+mn-lt"/>
              </a:rPr>
              <a:t>Iskustvo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 dirty="0">
              <a:latin typeface="Aptos"/>
            </a:endParaRPr>
          </a:p>
          <a:p>
            <a:pPr>
              <a:buFont typeface="Arial"/>
            </a:pPr>
            <a:r>
              <a:rPr lang="en-US" dirty="0" err="1">
                <a:latin typeface="Aptos"/>
                <a:ea typeface="+mn-lt"/>
                <a:cs typeface="+mn-lt"/>
              </a:rPr>
              <a:t>rješavanje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tehničkih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izazova</a:t>
            </a:r>
            <a:endParaRPr lang="en-US" dirty="0" err="1">
              <a:latin typeface="Aptos"/>
            </a:endParaRPr>
          </a:p>
          <a:p>
            <a:pPr>
              <a:buFont typeface="Arial"/>
            </a:pPr>
            <a:r>
              <a:rPr lang="en-US" dirty="0" err="1">
                <a:latin typeface="Aptos"/>
                <a:ea typeface="+mn-lt"/>
                <a:cs typeface="+mn-lt"/>
              </a:rPr>
              <a:t>integracija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vanjskih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servisa</a:t>
            </a:r>
            <a:endParaRPr lang="en-US" dirty="0" err="1">
              <a:latin typeface="Aptos"/>
            </a:endParaRPr>
          </a:p>
          <a:p>
            <a:pPr>
              <a:buFont typeface="Arial"/>
            </a:pPr>
            <a:r>
              <a:rPr lang="en-US" dirty="0">
                <a:latin typeface="Aptos"/>
                <a:ea typeface="+mn-lt"/>
                <a:cs typeface="+mn-lt"/>
              </a:rPr>
              <a:t>cloud deployment (Render)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endParaRPr lang="en-US" b="1" dirty="0">
              <a:latin typeface="Aptos"/>
            </a:endParaRPr>
          </a:p>
          <a:p>
            <a:endParaRPr lang="en-US" dirty="0">
              <a:latin typeface="Aptos"/>
            </a:endParaRPr>
          </a:p>
        </p:txBody>
      </p:sp>
      <p:pic>
        <p:nvPicPr>
          <p:cNvPr id="7" name="Picture 6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634D387C-D243-E3D3-A3BE-AEBEC4675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21760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5BA0A-41B8-A940-EB51-3C4031C4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ptos"/>
              </a:rPr>
              <a:t>Hvala!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2EFD-0028-A846-16F8-151A039D1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597505" cy="47762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Aptos"/>
                <a:ea typeface="+mn-lt"/>
                <a:cs typeface="+mn-lt"/>
              </a:rPr>
              <a:t>Zahvale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 dirty="0" err="1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    Prof. Vlado </a:t>
            </a:r>
            <a:r>
              <a:rPr lang="en-US" sz="2000" dirty="0" err="1">
                <a:latin typeface="Aptos"/>
                <a:ea typeface="+mn-lt"/>
                <a:cs typeface="+mn-lt"/>
              </a:rPr>
              <a:t>Sruk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   </a:t>
            </a:r>
            <a:r>
              <a:rPr lang="en-US" sz="2000" dirty="0" err="1">
                <a:latin typeface="Aptos"/>
                <a:ea typeface="+mn-lt"/>
                <a:cs typeface="+mn-lt"/>
              </a:rPr>
              <a:t>Asistentu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latin typeface="Aptos"/>
                <a:ea typeface="+mn-lt"/>
                <a:cs typeface="+mn-lt"/>
              </a:rPr>
              <a:t>demonstratoru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endParaRPr lang="en-US" sz="2000" dirty="0">
              <a:latin typeface="Aptos"/>
            </a:endParaRPr>
          </a:p>
          <a:p>
            <a:pPr>
              <a:buNone/>
            </a:pPr>
            <a:r>
              <a:rPr lang="en-US" sz="2000" b="1" dirty="0" err="1">
                <a:latin typeface="Aptos"/>
                <a:ea typeface="+mn-lt"/>
                <a:cs typeface="+mn-lt"/>
              </a:rPr>
              <a:t>Kontakt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i</a:t>
            </a:r>
            <a:r>
              <a:rPr lang="en-US" sz="2000" b="1" dirty="0">
                <a:latin typeface="Aptos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"/>
                <a:ea typeface="+mn-lt"/>
                <a:cs typeface="+mn-lt"/>
              </a:rPr>
              <a:t>pristup</a:t>
            </a:r>
            <a:r>
              <a:rPr lang="en-US" sz="2000" b="1" dirty="0">
                <a:latin typeface="Aptos"/>
                <a:ea typeface="+mn-lt"/>
                <a:cs typeface="+mn-lt"/>
              </a:rPr>
              <a:t>:</a:t>
            </a:r>
            <a:endParaRPr lang="en-US" sz="2000" dirty="0">
              <a:latin typeface="Aptos"/>
            </a:endParaRPr>
          </a:p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🌐 Live: </a:t>
            </a:r>
            <a:r>
              <a:rPr lang="en-US" sz="2000" dirty="0">
                <a:latin typeface="Aptos"/>
                <a:ea typeface="+mn-lt"/>
                <a:cs typeface="+mn-lt"/>
                <a:hlinkClick r:id="rId2"/>
              </a:rPr>
              <a:t>https://autoservis-frontend.onrender.com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💻 GitHub: </a:t>
            </a:r>
            <a:r>
              <a:rPr lang="en-US" sz="2000" dirty="0">
                <a:latin typeface="Aptos"/>
                <a:ea typeface="+mn-lt"/>
                <a:cs typeface="+mn-lt"/>
                <a:hlinkClick r:id="rId3"/>
              </a:rPr>
              <a:t>https://github.com/ivanosoric/PROGI-grupa-5.3</a:t>
            </a:r>
            <a:endParaRPr lang="en-US" sz="2000">
              <a:latin typeface="Aptos"/>
            </a:endParaRPr>
          </a:p>
          <a:p>
            <a:pPr>
              <a:buFont typeface="Arial"/>
              <a:buChar char="•"/>
            </a:pPr>
            <a:endParaRPr lang="en-US" sz="2000" dirty="0">
              <a:latin typeface="Aptos"/>
            </a:endParaRPr>
          </a:p>
          <a:p>
            <a:pPr algn="r">
              <a:buNone/>
            </a:pPr>
            <a:r>
              <a:rPr lang="en-US" sz="2000" b="1" dirty="0">
                <a:latin typeface="Aptos"/>
              </a:rPr>
              <a:t>Tim TG05.3 REST-API:</a:t>
            </a:r>
            <a:r>
              <a:rPr lang="en-US" sz="2000" dirty="0">
                <a:latin typeface="Aptos"/>
              </a:rPr>
              <a:t> </a:t>
            </a:r>
            <a:br>
              <a:rPr lang="en-US" sz="2000" dirty="0">
                <a:latin typeface="Aptos"/>
              </a:rPr>
            </a:br>
            <a:r>
              <a:rPr lang="en-US" sz="2000" dirty="0">
                <a:latin typeface="Aptos"/>
              </a:rPr>
              <a:t>Ivan Petrović, Ivano Sorić, Katarina </a:t>
            </a:r>
            <a:r>
              <a:rPr lang="en-US" sz="2000" dirty="0" err="1">
                <a:latin typeface="Aptos"/>
              </a:rPr>
              <a:t>Bencun</a:t>
            </a:r>
            <a:r>
              <a:rPr lang="en-US" sz="2000" dirty="0">
                <a:latin typeface="Aptos"/>
              </a:rPr>
              <a:t>, </a:t>
            </a:r>
            <a:br>
              <a:rPr lang="en-US" sz="2000" dirty="0">
                <a:latin typeface="Aptos"/>
              </a:rPr>
            </a:br>
            <a:r>
              <a:rPr lang="en-US" sz="2000" dirty="0">
                <a:latin typeface="Aptos"/>
              </a:rPr>
              <a:t>Adrijan </a:t>
            </a:r>
            <a:r>
              <a:rPr lang="en-US" sz="2000" dirty="0" err="1">
                <a:latin typeface="Aptos"/>
              </a:rPr>
              <a:t>Lazanja</a:t>
            </a:r>
            <a:r>
              <a:rPr lang="en-US" sz="2000" dirty="0">
                <a:latin typeface="Aptos"/>
              </a:rPr>
              <a:t>, Mia Bagarić, Domagoj </a:t>
            </a:r>
            <a:r>
              <a:rPr lang="en-US" sz="2000" dirty="0" err="1">
                <a:latin typeface="Aptos"/>
              </a:rPr>
              <a:t>Vitković</a:t>
            </a:r>
            <a:endParaRPr lang="en-US" sz="2000" dirty="0">
              <a:latin typeface="Aptos"/>
            </a:endParaRPr>
          </a:p>
          <a:p>
            <a:pPr>
              <a:buNone/>
            </a:pPr>
            <a:endParaRPr lang="en-US" sz="2000" dirty="0">
              <a:latin typeface="Aptos"/>
            </a:endParaRPr>
          </a:p>
          <a:p>
            <a:pPr marL="0" indent="0">
              <a:buNone/>
            </a:pPr>
            <a:endParaRPr lang="en-US" sz="2000" dirty="0">
              <a:latin typeface="Aptos"/>
            </a:endParaRPr>
          </a:p>
          <a:p>
            <a:endParaRPr lang="en-US" sz="2000" dirty="0">
              <a:latin typeface="Aptos"/>
            </a:endParaRPr>
          </a:p>
        </p:txBody>
      </p:sp>
      <p:pic>
        <p:nvPicPr>
          <p:cNvPr id="5" name="Picture 4" descr="A logo of a car with a wrench and gear&#10;&#10;AI-generated content may be incorrect.">
            <a:extLst>
              <a:ext uri="{FF2B5EF4-FFF2-40B4-BE49-F238E27FC236}">
                <a16:creationId xmlns:a16="http://schemas.microsoft.com/office/drawing/2014/main" id="{1FD6CD67-E180-263F-6AB0-2B37E58F8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076" y="-12036"/>
            <a:ext cx="1318345" cy="13183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8665451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5DFEAC86DF2444CB576C7F5959861B7" ma:contentTypeVersion="3" ma:contentTypeDescription="Stvaranje novog dokumenta." ma:contentTypeScope="" ma:versionID="ccc5afd9f13135cdccf88cc93d5ad907">
  <xsd:schema xmlns:xsd="http://www.w3.org/2001/XMLSchema" xmlns:xs="http://www.w3.org/2001/XMLSchema" xmlns:p="http://schemas.microsoft.com/office/2006/metadata/properties" xmlns:ns2="c6c9010e-5e02-469e-a018-332638449cca" targetNamespace="http://schemas.microsoft.com/office/2006/metadata/properties" ma:root="true" ma:fieldsID="16a3278e474fa51c019dc0aca4933c35" ns2:_="">
    <xsd:import namespace="c6c9010e-5e02-469e-a018-332638449c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c9010e-5e02-469e-a018-332638449c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98E07B-C978-428B-A876-0E747555AE05}"/>
</file>

<file path=customXml/itemProps2.xml><?xml version="1.0" encoding="utf-8"?>
<ds:datastoreItem xmlns:ds="http://schemas.openxmlformats.org/officeDocument/2006/customXml" ds:itemID="{972CB542-3287-48E2-81A1-03FDE4077D3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BC6AD9E-2897-46F9-94EB-1E169DDE64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View</vt:lpstr>
      <vt:lpstr>Auto servis - Sustav za upravljanje autoservisom</vt:lpstr>
      <vt:lpstr>Zašto Auto servis?</vt:lpstr>
      <vt:lpstr>Ciljevi projekta</vt:lpstr>
      <vt:lpstr>Tehnička arhitektura</vt:lpstr>
      <vt:lpstr>Baza podataka - PostgreSQL</vt:lpstr>
      <vt:lpstr>Korisničke uloge i ključne funkcionalnosti</vt:lpstr>
      <vt:lpstr>Prijava vozila u sustav kao korisnik</vt:lpstr>
      <vt:lpstr>Obrazac za prijavu termina</vt:lpstr>
      <vt:lpstr>Proces prijave vozila</vt:lpstr>
      <vt:lpstr>Automatizacija i notifikacije</vt:lpstr>
      <vt:lpstr>Automatizirani mail za potvrdu prijave servisa </vt:lpstr>
      <vt:lpstr>Ispitivanje</vt:lpstr>
      <vt:lpstr>Deployment i pristup</vt:lpstr>
      <vt:lpstr>Izazovi i rješenja</vt:lpstr>
      <vt:lpstr>Organizacija projekta</vt:lpstr>
      <vt:lpstr>Budući razvoj</vt:lpstr>
      <vt:lpstr>Što smo naučili?</vt:lpstr>
      <vt:lpstr>Hvala!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795</cp:revision>
  <dcterms:created xsi:type="dcterms:W3CDTF">2026-01-23T19:11:07Z</dcterms:created>
  <dcterms:modified xsi:type="dcterms:W3CDTF">2026-01-27T17:12:34Z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0x01010045DFEAC86DF2444CB576C7F5959861B7</vt:lpwstr>
  </property>
</Properties>
</file>